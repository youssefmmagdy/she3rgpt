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1"/>
  </p:notesMasterIdLst>
  <p:sldIdLst>
    <p:sldId id="269" r:id="rId2"/>
    <p:sldId id="256" r:id="rId3"/>
    <p:sldId id="267" r:id="rId4"/>
    <p:sldId id="257" r:id="rId5"/>
    <p:sldId id="258" r:id="rId6"/>
    <p:sldId id="268" r:id="rId7"/>
    <p:sldId id="271" r:id="rId8"/>
    <p:sldId id="270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22:51:44.9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30,'218'-2,"228"4,-288 5,104 0,654-7,-905 0,1-1,-1-1,0 1,1-2,-1 0,0 0,13-6,-9 4,-1 0,1 2,0 0,0 0,22 0,-94 6,-104 18,64-5,-40 9,108-18,1 0,0 2,0 1,1 2,-36 20,54-27,0-1,0 0,0 0,0-1,-1 0,-14 2,-62 5,63-9,-41 2,40-3,-1 2,1 0,-27 6,-55 21,-48 12,119-34,0-2,-54 2,-305-7,161-1,228 1,-21 1,25-1,0 0,0 0,0 1,-1-1,1 0,0 0,0 1,0-1,0 1,0-1,0 1,1-1,-1 1,0-1,0 1,0 0,0 0,-1 1,2-1,0-1,1 1,-1-1,0 0,0 1,0-1,0 1,1-1,-1 1,0-1,0 1,1-1,-1 0,0 1,1-1,-1 0,0 1,1-1,-1 0,0 1,1-1,-1 0,1 0,-1 0,1 1,-1-1,0 0,1 0,-1 0,1 0,-1 0,1 0,-1 0,2 0,18 4,35 1,101-5,-62-2,-27 6,0 2,81 19,87 9,-87-20,72 3,526-19,-741 2,-1 0,0 0,0 0,1 0,-1 0,0 1,0 0,0 0,0 0,0 0,0 0,6 4,1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22:51:49.5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134 18,'40'0,"-18"-1,0 0,1 2,-1 1,0 0,0 2,41 12,-44-9,1 0,0-2,1 0,-1-1,1-1,36 1,1248-6,-1286 1,0-1,-1-1,29-9,-4 2,51-16,-69 18,-24 8,-1 0,0 0,0-1,0 1,0 0,0 0,0 0,0 0,1 0,-1 0,0 0,0 0,0 0,0 0,0 0,0 0,0 0,0 0,0 0,0-1,0 1,1 0,-1 0,0 0,0 0,0 0,0 0,0 0,0 0,0-1,0 1,0 0,0 0,0 0,0 0,0 0,0 0,0 0,0-1,0 1,0 0,0 0,0 0,0 0,-1 0,1 0,0 0,0 0,0-1,0 1,0 0,-14-3,-44 0,-101 7,143-2,0 2,1 0,-1 1,1 0,-27 14,19-8,-35 11,-267 97,277-100,-1-2,-1-2,-54 9,-5 0,63-12,-75 8,19-5,64-9,-60 3,65-8,-49 1,-100-11,160 5,-34-10,38 9,0 0,-36-4,-77 9,129 0,40 1,-1 1,1 3,44 9,-38-5,-1-2,63 1,91-9,-73-1,1 0,138 4,-113 17,-93-11,46 12,-63-12,0-1,55 3,-73-10,12 0,0 2,35 6,22 6,-53-10,-1 2,47 15,-57-12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7T12:35:21.0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310 49,'108'2,"127"-5,-103-17,-5 0,302 13,-244 9,650-2,-669 12,-12 0,3-13,-63-1,130 14,-147-4,-33-4,76 16,-71-7,-13-5,0 2,0 1,35 17,-70-27,0-1,0 1,0-1,0 1,0-1,0 1,-1 0,1-1,0 1,0 0,0 0,-1-1,1 1,1 2,-2-3,0 0,0 1,0-1,0 0,-1 1,1-1,0 0,0 1,0-1,0 0,0 1,0-1,0 0,-1 0,1 1,0-1,0 0,0 0,-1 1,1-1,0 0,0 0,-1 1,1-1,0 0,-1 0,1 0,0 0,0 0,-1 1,-35 7,26-7,-30 10,1 1,-41 20,53-20,-2-1,1-1,-1-1,-1-2,-45 6,38-9,0 1,0 2,-36 12,-105 42,148-50,4-2,0-2,-1-1,-34 4,-84 1,64-7,19 0,-3 0,-78 15,80-8,-106 4,-63-13,178-2,0 2,1 3,-55 11,-60 6,-253-18,216-7,-32-11,164 8,47 5,1-1,0-1,-1-1,-25-9,26 6,-46-6,6 1,46 6,8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7T12:35:24.4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1 329,'827'0,"-800"1,1 1,-1 2,32 7,79 28,-86-23,0-2,65 9,0-15,128-7,-105-3,-114 3,0 2,0 1,36 10,38 5,-70-14,49 15,-53-12,0-1,51 5,35-1,54 2,191-14,-344 1,-1-1,0 0,1-1,-1 0,0-1,0 0,0-1,0-1,-1 0,17-9,-22 10,0 0,0-1,0 1,0-1,-1 0,0-1,0 1,-1-1,1 0,-1 0,0-1,-1 1,0-1,0 0,0 1,-1-1,0-1,2-11,-1-50,-4 57,1 1,0-1,1 0,0 1,1-1,0 1,1 0,5-14,-6 21,0 0,1 0,0 0,0 0,0 1,0-1,1 1,-1 0,1 0,0 0,6-3,52-23,-25 12,-32 15,-1 0,0-1,1 0,-1 0,0 0,0 0,4-6,-7 9,-1-1,1 0,-1 0,1 1,-1-1,0 0,1 0,-1 0,0 1,0-1,1 0,-1 0,0 0,0 0,0 0,0 0,0 1,0-1,0-1,-1 0,0 1,1 0,-1 0,0-1,0 1,1 0,-1 0,0 0,0 0,0 0,-1 0,1 0,0 0,0 1,-3-2,-15-8,0 1,-1 1,0 1,0 1,-1 0,0 2,-41-4,-158 7,122 4,-1611-2,883-2,807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D99FF-F54F-4722-92C5-73FAD3A29585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639F4-A98C-4F87-A1AD-C9DB36EA1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1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F9784-3B31-4A62-82BD-BAA109435CC6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6A0FA-C790-4CB4-BF06-FDDF00AB35E7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2D91045-9AE1-4A92-AFE2-FBA5A5B08AFC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C7403-C62B-459D-B4A1-EAF730BF323B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0387D-1881-48B7-907B-DF1420FF5166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C331A-7E6A-4573-BB19-239BD182E299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5E1B7-8CAC-4788-A569-D4E4D7244DF2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5BDFE-7077-4383-B523-4A74286C7AB7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B67FA-B05A-422B-BE8E-2F03FD723EC1}" type="datetime1">
              <a:rPr lang="en-US" smtClean="0"/>
              <a:t>3/8/2026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68B22-0371-47C0-80E5-BFE3A87D130F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93810-A154-4A52-BFA8-373B041EDDD9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DCD0A1C0-7B03-4747-907C-06F8104B063D}" type="datetime1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r>
              <a:rPr lang="ar-EG"/>
              <a:t>م. يوسف مجدي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145E8C-A448-6D8F-279F-96BA56F6C785}"/>
              </a:ext>
            </a:extLst>
          </p:cNvPr>
          <p:cNvSpPr txBox="1"/>
          <p:nvPr/>
        </p:nvSpPr>
        <p:spPr>
          <a:xfrm>
            <a:off x="7793373" y="1023456"/>
            <a:ext cx="3535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pic>
        <p:nvPicPr>
          <p:cNvPr id="1032" name="Picture 8" descr="Complex neural networks made easy by Chainer – O'Reilly">
            <a:extLst>
              <a:ext uri="{FF2B5EF4-FFF2-40B4-BE49-F238E27FC236}">
                <a16:creationId xmlns:a16="http://schemas.microsoft.com/office/drawing/2014/main" id="{CADF588D-32B3-305C-E4F2-0ABB3AEE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3" y="939567"/>
            <a:ext cx="6595003" cy="447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6E0179D-8914-BD99-74FC-8A9980EC4C2E}"/>
              </a:ext>
            </a:extLst>
          </p:cNvPr>
          <p:cNvCxnSpPr>
            <a:stCxn id="4" idx="2"/>
            <a:endCxn id="1032" idx="3"/>
          </p:cNvCxnSpPr>
          <p:nvPr/>
        </p:nvCxnSpPr>
        <p:spPr>
          <a:xfrm rot="5400000">
            <a:off x="7454168" y="1070494"/>
            <a:ext cx="1753702" cy="24598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BE0EF5-C8BC-0FD8-BCF2-15B8AD62A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545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BDED-5686-82ED-875B-2099AFF237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Tokenization &amp; Embedding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2B35E-EE28-1F3B-38DF-A8D7F24DDCB0}"/>
              </a:ext>
            </a:extLst>
          </p:cNvPr>
          <p:cNvSpPr txBox="1"/>
          <p:nvPr/>
        </p:nvSpPr>
        <p:spPr>
          <a:xfrm>
            <a:off x="4026245" y="292962"/>
            <a:ext cx="4017590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بسم الله الرحمن الرحيم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C7D44-DDFD-DEA8-7DA7-C461ADB40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4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4F27E-4ACB-D466-4268-64DD9F6B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tuitive and Visual Guide to Transformers and ChatGPT">
            <a:extLst>
              <a:ext uri="{FF2B5EF4-FFF2-40B4-BE49-F238E27FC236}">
                <a16:creationId xmlns:a16="http://schemas.microsoft.com/office/drawing/2014/main" id="{B5B5AC14-A7DA-1A0C-23DC-1000F520F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39" y="696287"/>
            <a:ext cx="3418242" cy="521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25F371F-7BD7-D637-5994-B6BC94C4ADE5}"/>
                  </a:ext>
                </a:extLst>
              </p14:cNvPr>
              <p14:cNvContentPartPr/>
              <p14:nvPr/>
            </p14:nvContentPartPr>
            <p14:xfrm>
              <a:off x="4856400" y="4683240"/>
              <a:ext cx="797400" cy="155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25F371F-7BD7-D637-5994-B6BC94C4AD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2760" y="4575240"/>
                <a:ext cx="9050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4D5C44-E7C2-84B1-6A8A-C741C2128263}"/>
                  </a:ext>
                </a:extLst>
              </p14:cNvPr>
              <p14:cNvContentPartPr/>
              <p14:nvPr/>
            </p14:nvContentPartPr>
            <p14:xfrm>
              <a:off x="5976360" y="4662000"/>
              <a:ext cx="763920" cy="177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4D5C44-E7C2-84B1-6A8A-C741C21282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22360" y="4554360"/>
                <a:ext cx="871560" cy="3931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00CD0-CAC5-8F1F-A281-08DB544A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26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71B3-5223-E1F6-360B-D14341C47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E6A12-2BD8-3412-DFC2-ABD0D9094C9E}"/>
              </a:ext>
            </a:extLst>
          </p:cNvPr>
          <p:cNvSpPr txBox="1"/>
          <p:nvPr/>
        </p:nvSpPr>
        <p:spPr>
          <a:xfrm>
            <a:off x="6522644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E8CFE-E8FB-F84F-203C-DDB1AADFF1EF}"/>
              </a:ext>
            </a:extLst>
          </p:cNvPr>
          <p:cNvSpPr txBox="1"/>
          <p:nvPr/>
        </p:nvSpPr>
        <p:spPr>
          <a:xfrm>
            <a:off x="234893" y="4051882"/>
            <a:ext cx="163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10,000 tokens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A669E-A26E-4A9D-466E-418ED982F5E2}"/>
              </a:ext>
            </a:extLst>
          </p:cNvPr>
          <p:cNvSpPr txBox="1"/>
          <p:nvPr/>
        </p:nvSpPr>
        <p:spPr>
          <a:xfrm>
            <a:off x="2221744" y="2852365"/>
            <a:ext cx="122982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/>
              <a:t>الكتاب: 4189</a:t>
            </a:r>
          </a:p>
          <a:p>
            <a:r>
              <a:rPr lang="ar-EG" dirty="0"/>
              <a:t>الذي: 212</a:t>
            </a:r>
          </a:p>
          <a:p>
            <a:r>
              <a:rPr lang="ar-EG" dirty="0"/>
              <a:t>قرأته: 8213</a:t>
            </a:r>
          </a:p>
          <a:p>
            <a:r>
              <a:rPr lang="ar-EG" dirty="0"/>
              <a:t>كان: 513</a:t>
            </a:r>
          </a:p>
          <a:p>
            <a:r>
              <a:rPr lang="ar-EG" dirty="0"/>
              <a:t>جيدا: 1235</a:t>
            </a:r>
          </a:p>
          <a:p>
            <a:r>
              <a:rPr lang="ar-EG" dirty="0"/>
              <a:t>	.</a:t>
            </a:r>
          </a:p>
          <a:p>
            <a:r>
              <a:rPr lang="ar-EG" dirty="0"/>
              <a:t>	.</a:t>
            </a:r>
          </a:p>
          <a:p>
            <a:r>
              <a:rPr lang="ar-EG" dirty="0"/>
              <a:t>	.</a:t>
            </a:r>
          </a:p>
          <a:p>
            <a:r>
              <a:rPr lang="ar-EG" dirty="0"/>
              <a:t>أنا: 1</a:t>
            </a:r>
          </a:p>
          <a:p>
            <a:r>
              <a:rPr lang="ar-EG" dirty="0"/>
              <a:t>جميل: 12</a:t>
            </a:r>
          </a:p>
          <a:p>
            <a:r>
              <a:rPr lang="ar-EG" dirty="0"/>
              <a:t>	.</a:t>
            </a:r>
          </a:p>
          <a:p>
            <a:r>
              <a:rPr lang="ar-EG" dirty="0"/>
              <a:t>	.</a:t>
            </a:r>
            <a:endParaRPr lang="en-US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3FEBC0B3-D5C0-0209-36E8-87A8B27C3455}"/>
              </a:ext>
            </a:extLst>
          </p:cNvPr>
          <p:cNvSpPr/>
          <p:nvPr/>
        </p:nvSpPr>
        <p:spPr>
          <a:xfrm>
            <a:off x="1863545" y="2927866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1916A6-AE99-E75D-ABCB-238156FF7FE0}"/>
              </a:ext>
            </a:extLst>
          </p:cNvPr>
          <p:cNvSpPr txBox="1"/>
          <p:nvPr/>
        </p:nvSpPr>
        <p:spPr>
          <a:xfrm>
            <a:off x="4257686" y="3904913"/>
            <a:ext cx="1192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28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E2BFF7-8F79-5B2C-7F66-8FFF3A1AF270}"/>
              </a:ext>
            </a:extLst>
          </p:cNvPr>
          <p:cNvSpPr txBox="1"/>
          <p:nvPr/>
        </p:nvSpPr>
        <p:spPr>
          <a:xfrm>
            <a:off x="5815924" y="2713054"/>
            <a:ext cx="7040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/>
              <a:t>ا: 1</a:t>
            </a:r>
          </a:p>
          <a:p>
            <a:r>
              <a:rPr lang="ar-EG" dirty="0"/>
              <a:t>ب: 2</a:t>
            </a:r>
          </a:p>
          <a:p>
            <a:r>
              <a:rPr lang="ar-EG" dirty="0"/>
              <a:t>ت: 3</a:t>
            </a:r>
          </a:p>
          <a:p>
            <a:r>
              <a:rPr lang="ar-EG" dirty="0"/>
              <a:t>ث: 4</a:t>
            </a:r>
          </a:p>
          <a:p>
            <a:r>
              <a:rPr lang="ar-EG" dirty="0"/>
              <a:t>ج: 5</a:t>
            </a:r>
          </a:p>
          <a:p>
            <a:r>
              <a:rPr lang="ar-EG" dirty="0"/>
              <a:t>   .   </a:t>
            </a:r>
          </a:p>
          <a:p>
            <a:r>
              <a:rPr lang="ar-EG" dirty="0"/>
              <a:t>.   </a:t>
            </a:r>
          </a:p>
          <a:p>
            <a:r>
              <a:rPr lang="ar-EG" dirty="0"/>
              <a:t> .   </a:t>
            </a:r>
          </a:p>
          <a:p>
            <a:r>
              <a:rPr lang="ar-EG" dirty="0"/>
              <a:t>و: 27</a:t>
            </a:r>
          </a:p>
          <a:p>
            <a:r>
              <a:rPr lang="ar-EG" dirty="0"/>
              <a:t>ي: 28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46961F2-7332-F21A-6BFB-FD9A4608BF20}"/>
              </a:ext>
            </a:extLst>
          </p:cNvPr>
          <p:cNvSpPr/>
          <p:nvPr/>
        </p:nvSpPr>
        <p:spPr>
          <a:xfrm>
            <a:off x="5457725" y="2788555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5E11EF-962B-9001-A801-68580A6FB13A}"/>
              </a:ext>
            </a:extLst>
          </p:cNvPr>
          <p:cNvSpPr txBox="1"/>
          <p:nvPr/>
        </p:nvSpPr>
        <p:spPr>
          <a:xfrm>
            <a:off x="7522856" y="3988072"/>
            <a:ext cx="1634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10,000 tokens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9E5FEF-E1C2-398B-8820-A24AF9C55D04}"/>
              </a:ext>
            </a:extLst>
          </p:cNvPr>
          <p:cNvSpPr txBox="1"/>
          <p:nvPr/>
        </p:nvSpPr>
        <p:spPr>
          <a:xfrm>
            <a:off x="9472786" y="2818917"/>
            <a:ext cx="113364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/>
              <a:t>ال: 4189</a:t>
            </a:r>
          </a:p>
          <a:p>
            <a:r>
              <a:rPr lang="ar-EG" dirty="0"/>
              <a:t>كتاب: 1209</a:t>
            </a:r>
          </a:p>
          <a:p>
            <a:r>
              <a:rPr lang="ar-EG" dirty="0"/>
              <a:t>الذي: 212</a:t>
            </a:r>
          </a:p>
          <a:p>
            <a:r>
              <a:rPr lang="ar-EG" dirty="0"/>
              <a:t>قرأ: 8213</a:t>
            </a:r>
            <a:endParaRPr lang="en-US" dirty="0"/>
          </a:p>
          <a:p>
            <a:r>
              <a:rPr lang="ar-EG" dirty="0"/>
              <a:t>ته: 340</a:t>
            </a:r>
          </a:p>
          <a:p>
            <a:r>
              <a:rPr lang="ar-EG" dirty="0"/>
              <a:t>كان: 513</a:t>
            </a:r>
          </a:p>
          <a:p>
            <a:r>
              <a:rPr lang="ar-EG" dirty="0"/>
              <a:t>جيد: 1235</a:t>
            </a:r>
          </a:p>
          <a:p>
            <a:r>
              <a:rPr lang="ar-EG" dirty="0"/>
              <a:t>	.</a:t>
            </a:r>
          </a:p>
          <a:p>
            <a:r>
              <a:rPr lang="ar-EG" dirty="0"/>
              <a:t>	.</a:t>
            </a:r>
          </a:p>
          <a:p>
            <a:r>
              <a:rPr lang="ar-EG" dirty="0"/>
              <a:t>	.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55366E48-F8AF-F572-FD1C-8745C5B5633D}"/>
              </a:ext>
            </a:extLst>
          </p:cNvPr>
          <p:cNvSpPr/>
          <p:nvPr/>
        </p:nvSpPr>
        <p:spPr>
          <a:xfrm>
            <a:off x="9151508" y="2864056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D5B72-12E1-D234-08EA-D2CBE3C7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16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6951-D8D1-6AA5-CECE-37A8C99D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93EE6A7-3F25-EDAB-9781-9C65C294B8C6}"/>
              </a:ext>
            </a:extLst>
          </p:cNvPr>
          <p:cNvCxnSpPr>
            <a:cxnSpLocks/>
          </p:cNvCxnSpPr>
          <p:nvPr/>
        </p:nvCxnSpPr>
        <p:spPr>
          <a:xfrm flipV="1">
            <a:off x="3171064" y="1677798"/>
            <a:ext cx="4446140" cy="13841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D3CCEAA8-5CF2-3C81-EEA9-773E4CC6F447}"/>
              </a:ext>
            </a:extLst>
          </p:cNvPr>
          <p:cNvSpPr/>
          <p:nvPr/>
        </p:nvSpPr>
        <p:spPr>
          <a:xfrm>
            <a:off x="8729203" y="643462"/>
            <a:ext cx="330700" cy="20686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793EA-EE01-E7E5-A446-7AA8965BE579}"/>
              </a:ext>
            </a:extLst>
          </p:cNvPr>
          <p:cNvSpPr txBox="1"/>
          <p:nvPr/>
        </p:nvSpPr>
        <p:spPr>
          <a:xfrm>
            <a:off x="7651468" y="1523909"/>
            <a:ext cx="1077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32 number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B26CB-38A3-DFF7-FB23-822AFCCE5E7D}"/>
              </a:ext>
            </a:extLst>
          </p:cNvPr>
          <p:cNvSpPr txBox="1"/>
          <p:nvPr/>
        </p:nvSpPr>
        <p:spPr>
          <a:xfrm>
            <a:off x="1585518" y="2093976"/>
            <a:ext cx="2189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7030A0"/>
                </a:solidFill>
              </a:rPr>
              <a:t>num_embd</a:t>
            </a:r>
            <a:r>
              <a:rPr lang="en-US" dirty="0">
                <a:solidFill>
                  <a:srgbClr val="7030A0"/>
                </a:solidFill>
              </a:rPr>
              <a:t> = 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7CDB8A-B348-70DC-9D25-7EB5E2440896}"/>
              </a:ext>
            </a:extLst>
          </p:cNvPr>
          <p:cNvSpPr txBox="1"/>
          <p:nvPr/>
        </p:nvSpPr>
        <p:spPr>
          <a:xfrm>
            <a:off x="9188741" y="554412"/>
            <a:ext cx="10859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-1.2</a:t>
            </a:r>
          </a:p>
          <a:p>
            <a:r>
              <a:rPr lang="en-US" sz="1400" dirty="0"/>
              <a:t>0.73</a:t>
            </a:r>
          </a:p>
          <a:p>
            <a:r>
              <a:rPr lang="en-US" sz="1400" dirty="0"/>
              <a:t>0.47</a:t>
            </a:r>
          </a:p>
          <a:p>
            <a:r>
              <a:rPr lang="en-US" sz="1400" dirty="0"/>
              <a:t>1.43</a:t>
            </a:r>
          </a:p>
          <a:p>
            <a:r>
              <a:rPr lang="en-US" sz="1400" dirty="0"/>
              <a:t>2.98</a:t>
            </a:r>
          </a:p>
          <a:p>
            <a:r>
              <a:rPr lang="en-US" sz="1400" dirty="0"/>
              <a:t>-2.12</a:t>
            </a:r>
          </a:p>
          <a:p>
            <a:r>
              <a:rPr lang="en-US" sz="1400" dirty="0"/>
              <a:t>-0.98</a:t>
            </a:r>
          </a:p>
          <a:p>
            <a:r>
              <a:rPr lang="en-US" sz="1400" dirty="0"/>
              <a:t>0.13</a:t>
            </a:r>
          </a:p>
          <a:p>
            <a:r>
              <a:rPr lang="en-US" sz="1400" dirty="0"/>
              <a:t>   .</a:t>
            </a:r>
          </a:p>
          <a:p>
            <a:r>
              <a:rPr lang="en-US" sz="1400" dirty="0"/>
              <a:t>   .</a:t>
            </a:r>
            <a:endParaRPr lang="ar-EG" sz="1400" dirty="0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87B9D43D-71A0-52F1-7470-17692294A71C}"/>
              </a:ext>
            </a:extLst>
          </p:cNvPr>
          <p:cNvCxnSpPr>
            <a:cxnSpLocks/>
          </p:cNvCxnSpPr>
          <p:nvPr/>
        </p:nvCxnSpPr>
        <p:spPr>
          <a:xfrm>
            <a:off x="3020037" y="3263317"/>
            <a:ext cx="6655471" cy="566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7959519F-1750-A849-AA81-D9B7A5080735}"/>
              </a:ext>
            </a:extLst>
          </p:cNvPr>
          <p:cNvSpPr/>
          <p:nvPr/>
        </p:nvSpPr>
        <p:spPr>
          <a:xfrm>
            <a:off x="10797548" y="2781345"/>
            <a:ext cx="330700" cy="20686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D3AADB-BE4A-2346-30F3-C5C74C871269}"/>
              </a:ext>
            </a:extLst>
          </p:cNvPr>
          <p:cNvSpPr txBox="1"/>
          <p:nvPr/>
        </p:nvSpPr>
        <p:spPr>
          <a:xfrm>
            <a:off x="9646907" y="3661792"/>
            <a:ext cx="1077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32 number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35EA9-B2A4-8189-D42C-3E9AFFE61E9C}"/>
              </a:ext>
            </a:extLst>
          </p:cNvPr>
          <p:cNvSpPr txBox="1"/>
          <p:nvPr/>
        </p:nvSpPr>
        <p:spPr>
          <a:xfrm>
            <a:off x="11212656" y="2692295"/>
            <a:ext cx="10859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1.15</a:t>
            </a:r>
          </a:p>
          <a:p>
            <a:r>
              <a:rPr lang="en-US" sz="1400" dirty="0"/>
              <a:t>-1.73</a:t>
            </a:r>
          </a:p>
          <a:p>
            <a:r>
              <a:rPr lang="en-US" sz="1400" dirty="0"/>
              <a:t>-2.47</a:t>
            </a:r>
          </a:p>
          <a:p>
            <a:r>
              <a:rPr lang="en-US" sz="1400" dirty="0"/>
              <a:t>0.42</a:t>
            </a:r>
          </a:p>
          <a:p>
            <a:r>
              <a:rPr lang="en-US" sz="1400" dirty="0"/>
              <a:t>1.48</a:t>
            </a:r>
          </a:p>
          <a:p>
            <a:r>
              <a:rPr lang="en-US" sz="1400" dirty="0"/>
              <a:t>0.12</a:t>
            </a:r>
          </a:p>
          <a:p>
            <a:r>
              <a:rPr lang="en-US" sz="1400" dirty="0"/>
              <a:t>-0.12</a:t>
            </a:r>
          </a:p>
          <a:p>
            <a:r>
              <a:rPr lang="en-US" sz="1400" dirty="0"/>
              <a:t>-1.16</a:t>
            </a:r>
          </a:p>
          <a:p>
            <a:r>
              <a:rPr lang="en-US" sz="1400" dirty="0"/>
              <a:t>   .</a:t>
            </a:r>
          </a:p>
          <a:p>
            <a:r>
              <a:rPr lang="en-US" sz="1400" dirty="0"/>
              <a:t>   .</a:t>
            </a:r>
            <a:endParaRPr lang="ar-EG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2426D-4EE1-355F-23C1-ADFEFD753313}"/>
              </a:ext>
            </a:extLst>
          </p:cNvPr>
          <p:cNvSpPr txBox="1"/>
          <p:nvPr/>
        </p:nvSpPr>
        <p:spPr>
          <a:xfrm>
            <a:off x="234893" y="4051882"/>
            <a:ext cx="13126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10,000 tokens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F7865-B273-868A-DEBB-39516CA71995}"/>
              </a:ext>
            </a:extLst>
          </p:cNvPr>
          <p:cNvSpPr txBox="1"/>
          <p:nvPr/>
        </p:nvSpPr>
        <p:spPr>
          <a:xfrm>
            <a:off x="2221744" y="2877532"/>
            <a:ext cx="99578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400" dirty="0"/>
              <a:t>الكتاب: 4189</a:t>
            </a:r>
          </a:p>
          <a:p>
            <a:r>
              <a:rPr lang="ar-EG" sz="1400" dirty="0"/>
              <a:t>الذي: 212</a:t>
            </a:r>
          </a:p>
          <a:p>
            <a:r>
              <a:rPr lang="ar-EG" sz="1400" dirty="0"/>
              <a:t>قرأته: 8213</a:t>
            </a:r>
          </a:p>
          <a:p>
            <a:r>
              <a:rPr lang="ar-EG" sz="1400" dirty="0"/>
              <a:t>كان: 513</a:t>
            </a:r>
          </a:p>
          <a:p>
            <a:r>
              <a:rPr lang="ar-EG" sz="1400" dirty="0"/>
              <a:t>جيدا: 1235</a:t>
            </a:r>
          </a:p>
          <a:p>
            <a:r>
              <a:rPr lang="ar-EG" sz="1400" dirty="0"/>
              <a:t>	.</a:t>
            </a:r>
          </a:p>
          <a:p>
            <a:r>
              <a:rPr lang="ar-EG" sz="1400" dirty="0"/>
              <a:t>	.</a:t>
            </a:r>
          </a:p>
          <a:p>
            <a:r>
              <a:rPr lang="ar-EG" sz="1400" dirty="0"/>
              <a:t>	.</a:t>
            </a:r>
          </a:p>
          <a:p>
            <a:r>
              <a:rPr lang="ar-EG" sz="1400" dirty="0"/>
              <a:t>أنا: 1</a:t>
            </a:r>
          </a:p>
          <a:p>
            <a:r>
              <a:rPr lang="ar-EG" sz="1400" dirty="0"/>
              <a:t>جميل: 12</a:t>
            </a:r>
          </a:p>
          <a:p>
            <a:r>
              <a:rPr lang="ar-EG" sz="1400" dirty="0"/>
              <a:t>	.</a:t>
            </a:r>
          </a:p>
          <a:p>
            <a:r>
              <a:rPr lang="ar-EG" sz="1400" dirty="0"/>
              <a:t>	.</a:t>
            </a:r>
            <a:endParaRPr lang="en-US" sz="1400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0370D36-79AB-471C-D6CE-3BF5ED2E6234}"/>
              </a:ext>
            </a:extLst>
          </p:cNvPr>
          <p:cNvSpPr/>
          <p:nvPr/>
        </p:nvSpPr>
        <p:spPr>
          <a:xfrm>
            <a:off x="1863545" y="2927866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D80F7-7E01-AA71-59B0-822C51E8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18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2" grpId="0"/>
      <p:bldP spid="13" grpId="0"/>
      <p:bldP spid="15" grpId="0" animBg="1"/>
      <p:bldP spid="16" grpId="0"/>
      <p:bldP spid="17" grpId="0"/>
      <p:bldP spid="3" grpId="0"/>
      <p:bldP spid="7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E127-CBBC-A019-0361-ECF5EDB63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10F0CA-1E53-695E-FEDC-B956CBE15854}"/>
              </a:ext>
            </a:extLst>
          </p:cNvPr>
          <p:cNvSpPr txBox="1"/>
          <p:nvPr/>
        </p:nvSpPr>
        <p:spPr>
          <a:xfrm>
            <a:off x="5213052" y="1889349"/>
            <a:ext cx="326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solidFill>
                  <a:srgbClr val="FF0000"/>
                </a:solidFill>
              </a:rPr>
              <a:t>مثال: </a:t>
            </a:r>
            <a:r>
              <a:rPr lang="ar-EG" sz="2000" dirty="0"/>
              <a:t>الكتاب الذي قرأته اليوم كان جيدا</a:t>
            </a:r>
            <a:endParaRPr lang="en-US" sz="2000" dirty="0"/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2078796D-CB44-345C-4A02-FE7FF3CE5854}"/>
              </a:ext>
            </a:extLst>
          </p:cNvPr>
          <p:cNvSpPr txBox="1"/>
          <p:nvPr/>
        </p:nvSpPr>
        <p:spPr>
          <a:xfrm>
            <a:off x="7743393" y="3969036"/>
            <a:ext cx="1467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10,000 tokens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56CBE10-7CCF-B6D1-1110-56C2BFCA82FD}"/>
              </a:ext>
            </a:extLst>
          </p:cNvPr>
          <p:cNvSpPr txBox="1"/>
          <p:nvPr/>
        </p:nvSpPr>
        <p:spPr>
          <a:xfrm>
            <a:off x="9730244" y="2769519"/>
            <a:ext cx="1112805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1600" dirty="0"/>
              <a:t>الكتاب: 4189</a:t>
            </a:r>
          </a:p>
          <a:p>
            <a:r>
              <a:rPr lang="ar-EG" sz="1600" dirty="0"/>
              <a:t>الذي: 212</a:t>
            </a:r>
          </a:p>
          <a:p>
            <a:r>
              <a:rPr lang="ar-EG" sz="1600" dirty="0"/>
              <a:t>قرأته: 8213</a:t>
            </a:r>
          </a:p>
          <a:p>
            <a:r>
              <a:rPr lang="ar-EG" sz="1600" dirty="0"/>
              <a:t>كان: 513</a:t>
            </a:r>
          </a:p>
          <a:p>
            <a:r>
              <a:rPr lang="ar-EG" sz="1600" dirty="0"/>
              <a:t>جيدا: 1235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أنا: 1</a:t>
            </a:r>
          </a:p>
          <a:p>
            <a:r>
              <a:rPr lang="ar-EG" sz="1600" dirty="0"/>
              <a:t>جميل: 12</a:t>
            </a:r>
          </a:p>
          <a:p>
            <a:r>
              <a:rPr lang="ar-EG" sz="1600" dirty="0"/>
              <a:t>	.</a:t>
            </a:r>
          </a:p>
          <a:p>
            <a:r>
              <a:rPr lang="ar-EG" sz="1600" dirty="0"/>
              <a:t>	.</a:t>
            </a:r>
            <a:endParaRPr lang="en-US" sz="1600" dirty="0"/>
          </a:p>
        </p:txBody>
      </p:sp>
      <p:sp>
        <p:nvSpPr>
          <p:cNvPr id="1055" name="Left Brace 1054">
            <a:extLst>
              <a:ext uri="{FF2B5EF4-FFF2-40B4-BE49-F238E27FC236}">
                <a16:creationId xmlns:a16="http://schemas.microsoft.com/office/drawing/2014/main" id="{AD478A54-23F1-0A45-58F7-5D400AE4BFC7}"/>
              </a:ext>
            </a:extLst>
          </p:cNvPr>
          <p:cNvSpPr/>
          <p:nvPr/>
        </p:nvSpPr>
        <p:spPr>
          <a:xfrm>
            <a:off x="9372045" y="2845020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B8851732-2F4A-3E09-2420-B8BA4129FFFA}"/>
              </a:ext>
            </a:extLst>
          </p:cNvPr>
          <p:cNvSpPr txBox="1"/>
          <p:nvPr/>
        </p:nvSpPr>
        <p:spPr>
          <a:xfrm>
            <a:off x="1159070" y="4166933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 x 32</a:t>
            </a:r>
          </a:p>
        </p:txBody>
      </p:sp>
      <p:sp>
        <p:nvSpPr>
          <p:cNvPr id="1059" name="Left Brace 1058">
            <a:extLst>
              <a:ext uri="{FF2B5EF4-FFF2-40B4-BE49-F238E27FC236}">
                <a16:creationId xmlns:a16="http://schemas.microsoft.com/office/drawing/2014/main" id="{0D858A63-016F-4246-3728-4FA0DBE138F3}"/>
              </a:ext>
            </a:extLst>
          </p:cNvPr>
          <p:cNvSpPr/>
          <p:nvPr/>
        </p:nvSpPr>
        <p:spPr>
          <a:xfrm>
            <a:off x="2050910" y="3014902"/>
            <a:ext cx="214397" cy="26927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EDC782D7-66EF-711E-BBBF-027EB08D63BF}"/>
              </a:ext>
            </a:extLst>
          </p:cNvPr>
          <p:cNvSpPr txBox="1"/>
          <p:nvPr/>
        </p:nvSpPr>
        <p:spPr>
          <a:xfrm>
            <a:off x="2553098" y="2879793"/>
            <a:ext cx="2192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[0.12, 0.34, -2.9, …]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A228ECB-5164-3F48-1A6A-B404F83E8BEE}"/>
              </a:ext>
            </a:extLst>
          </p:cNvPr>
          <p:cNvSpPr txBox="1"/>
          <p:nvPr/>
        </p:nvSpPr>
        <p:spPr>
          <a:xfrm>
            <a:off x="2553097" y="3299701"/>
            <a:ext cx="227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[-1.22, 2.64, 0.9, …]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90A81AEC-43FE-9C1B-1000-841CA6284F23}"/>
              </a:ext>
            </a:extLst>
          </p:cNvPr>
          <p:cNvSpPr txBox="1"/>
          <p:nvPr/>
        </p:nvSpPr>
        <p:spPr>
          <a:xfrm>
            <a:off x="2543472" y="3770091"/>
            <a:ext cx="2235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[1.33, 2.44, 1.87, …]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D08CB6D3-D7B3-4931-0BD3-8C78DA8AA9A2}"/>
              </a:ext>
            </a:extLst>
          </p:cNvPr>
          <p:cNvSpPr txBox="1"/>
          <p:nvPr/>
        </p:nvSpPr>
        <p:spPr>
          <a:xfrm>
            <a:off x="2530180" y="4322313"/>
            <a:ext cx="2317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[2.32, -1.74, 1.69, …]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B8CDD7C0-4F5A-25E9-CE89-26DE00FAFEC4}"/>
              </a:ext>
            </a:extLst>
          </p:cNvPr>
          <p:cNvSpPr txBox="1"/>
          <p:nvPr/>
        </p:nvSpPr>
        <p:spPr>
          <a:xfrm>
            <a:off x="2530179" y="4742221"/>
            <a:ext cx="2480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[-2.42, -1.54, -0.19, …]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CD54035A-1E2D-5A0E-4331-57E15227F327}"/>
              </a:ext>
            </a:extLst>
          </p:cNvPr>
          <p:cNvSpPr txBox="1"/>
          <p:nvPr/>
        </p:nvSpPr>
        <p:spPr>
          <a:xfrm>
            <a:off x="2520554" y="5212611"/>
            <a:ext cx="2399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[-1.32, 2.59, -1.19, …]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D83756A0-6B11-44B9-3DC4-CC85C208DC8B}"/>
              </a:ext>
            </a:extLst>
          </p:cNvPr>
          <p:cNvSpPr txBox="1"/>
          <p:nvPr/>
        </p:nvSpPr>
        <p:spPr>
          <a:xfrm>
            <a:off x="5028279" y="29286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الكتاب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CA4E225-0847-F839-87CD-B38F45CE36FB}"/>
              </a:ext>
            </a:extLst>
          </p:cNvPr>
          <p:cNvSpPr txBox="1"/>
          <p:nvPr/>
        </p:nvSpPr>
        <p:spPr>
          <a:xfrm>
            <a:off x="5058371" y="3353300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الذي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671422A7-C26D-7040-C956-FEC1C0581DD3}"/>
              </a:ext>
            </a:extLst>
          </p:cNvPr>
          <p:cNvSpPr txBox="1"/>
          <p:nvPr/>
        </p:nvSpPr>
        <p:spPr>
          <a:xfrm>
            <a:off x="5098009" y="3742919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قرأته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6DE20824-F1EE-089B-0AA5-A8B4FF2160AB}"/>
              </a:ext>
            </a:extLst>
          </p:cNvPr>
          <p:cNvSpPr txBox="1"/>
          <p:nvPr/>
        </p:nvSpPr>
        <p:spPr>
          <a:xfrm>
            <a:off x="5028279" y="472831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كان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0453212B-D491-C141-4331-1A39C8FDB170}"/>
              </a:ext>
            </a:extLst>
          </p:cNvPr>
          <p:cNvSpPr txBox="1"/>
          <p:nvPr/>
        </p:nvSpPr>
        <p:spPr>
          <a:xfrm>
            <a:off x="5058371" y="429527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اليوم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6A70530-A446-78BF-E059-7688BC9D70BC}"/>
              </a:ext>
            </a:extLst>
          </p:cNvPr>
          <p:cNvSpPr txBox="1"/>
          <p:nvPr/>
        </p:nvSpPr>
        <p:spPr>
          <a:xfrm>
            <a:off x="5000226" y="520837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جيدا</a:t>
            </a:r>
            <a:endParaRPr 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0FDC39-BBA8-E0FA-BE8F-1F01169F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/>
          <a:lstStyle/>
          <a:p>
            <a:r>
              <a:rPr lang="en-US" dirty="0"/>
              <a:t>Embedding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D10C85-3D77-9462-2EA1-D6306830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1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" grpId="0"/>
      <p:bldP spid="1062" grpId="0"/>
      <p:bldP spid="1063" grpId="0"/>
      <p:bldP spid="1064" grpId="0"/>
      <p:bldP spid="1065" grpId="0"/>
      <p:bldP spid="10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781B-4D05-20BA-48BE-1E3FEA5F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Legal Applications of Neural Word Embeddings | Towards Data Science">
            <a:extLst>
              <a:ext uri="{FF2B5EF4-FFF2-40B4-BE49-F238E27FC236}">
                <a16:creationId xmlns:a16="http://schemas.microsoft.com/office/drawing/2014/main" id="{50235C3C-064D-9763-3000-F2B9DCF59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41" y="1180401"/>
            <a:ext cx="10427516" cy="397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19E28F-139C-0B7B-7C9B-3D5F9BBD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86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5A28-DA21-C93D-1D8A-2BBAAE29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ntuitive and Visual Guide to Transformers and ChatGPT">
            <a:extLst>
              <a:ext uri="{FF2B5EF4-FFF2-40B4-BE49-F238E27FC236}">
                <a16:creationId xmlns:a16="http://schemas.microsoft.com/office/drawing/2014/main" id="{98CE2052-882C-CA48-9A43-C05FFF90C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339" y="696287"/>
            <a:ext cx="3418242" cy="521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783ABB-05F0-CE1D-C691-DFF92B953890}"/>
                  </a:ext>
                </a:extLst>
              </p14:cNvPr>
              <p14:cNvContentPartPr/>
              <p14:nvPr/>
            </p14:nvContentPartPr>
            <p14:xfrm>
              <a:off x="4124457" y="4285714"/>
              <a:ext cx="1310040" cy="195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783ABB-05F0-CE1D-C691-DFF92B9538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0817" y="4178074"/>
                <a:ext cx="14176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1960106-36DD-A389-9823-E0B1FFFC76C6}"/>
                  </a:ext>
                </a:extLst>
              </p14:cNvPr>
              <p14:cNvContentPartPr/>
              <p14:nvPr/>
            </p14:nvContentPartPr>
            <p14:xfrm>
              <a:off x="6257817" y="4285714"/>
              <a:ext cx="1216440" cy="203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1960106-36DD-A389-9823-E0B1FFFC76C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04177" y="4177714"/>
                <a:ext cx="1324080" cy="4186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F7B3B3-E936-77E3-2E1A-07A28256B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29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9015" y="2396611"/>
            <a:ext cx="5887949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ATTENTION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7F3A0-AE2E-849F-AD0F-C520F431F468}"/>
              </a:ext>
            </a:extLst>
          </p:cNvPr>
          <p:cNvSpPr txBox="1"/>
          <p:nvPr/>
        </p:nvSpPr>
        <p:spPr>
          <a:xfrm>
            <a:off x="4748168" y="3982417"/>
            <a:ext cx="1895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🚨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DBB73-1D55-D47C-A5E6-650B2EE88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EG"/>
              <a:t>م. يوسف مجدي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3594</TotalTime>
  <Words>332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Rockwell</vt:lpstr>
      <vt:lpstr>Rockwell Condensed</vt:lpstr>
      <vt:lpstr>Wingdings</vt:lpstr>
      <vt:lpstr>Wood Type</vt:lpstr>
      <vt:lpstr>PowerPoint Presentation</vt:lpstr>
      <vt:lpstr>Tokenization &amp; Embedding</vt:lpstr>
      <vt:lpstr>PowerPoint Presentation</vt:lpstr>
      <vt:lpstr>tokenization</vt:lpstr>
      <vt:lpstr>Embedding</vt:lpstr>
      <vt:lpstr>Embedding</vt:lpstr>
      <vt:lpstr>PowerPoint Presentation</vt:lpstr>
      <vt:lpstr>PowerPoint Presentation</vt:lpstr>
      <vt:lpstr>NEXT…ATTENTION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8</cp:revision>
  <dcterms:created xsi:type="dcterms:W3CDTF">2026-03-05T23:43:23Z</dcterms:created>
  <dcterms:modified xsi:type="dcterms:W3CDTF">2026-03-08T13:17:22Z</dcterms:modified>
</cp:coreProperties>
</file>
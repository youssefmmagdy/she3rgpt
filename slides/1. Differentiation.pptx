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3"/>
  </p:notesMasterIdLst>
  <p:sldIdLst>
    <p:sldId id="256" r:id="rId2"/>
    <p:sldId id="267" r:id="rId3"/>
    <p:sldId id="257" r:id="rId4"/>
    <p:sldId id="258" r:id="rId5"/>
    <p:sldId id="260" r:id="rId6"/>
    <p:sldId id="262" r:id="rId7"/>
    <p:sldId id="261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88861-97D8-4F96-99B9-3D81140780CE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BF1E36-E4B9-466D-B9FA-627018FBD2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8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1510A-0735-4ADB-8F8B-E80B865C3645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07133D-A2CA-4B7C-A95E-4691BBFB0CCF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C72A941C-0CE7-4546-B251-5B5B60616AF8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4E6672-039C-48EE-9F35-82754666EDDC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2ADD7-EC16-47DA-A212-E33D4885E8C5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BDECB-5366-4301-9EAE-C3C23D79F06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B9CA1-5FE5-4122-AC0E-12AF9AF8C3A4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FC451-8F46-42AE-923F-5C7B82C75A83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4BE2B-C7EC-4AC6-AB59-07DF7FEB276C}" type="datetime1">
              <a:rPr lang="en-US" smtClean="0"/>
              <a:t>2/26/2026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BF0E2-46E5-4276-9A1B-C2147F89A39B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1D9AB-1621-4051-958D-1D0DF3166BDC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351841EF-129A-4117-B297-F3F4B89E3336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r>
              <a:rPr lang="ar-EG"/>
              <a:t>م. يوسف مجدي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3DF80-B28D-D817-FBF0-2878216852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5400" dirty="0"/>
              <a:t>Derivative | slope | gradient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1403C-2B9E-0BC4-2D89-CEC36606B1A3}"/>
              </a:ext>
            </a:extLst>
          </p:cNvPr>
          <p:cNvSpPr txBox="1"/>
          <p:nvPr/>
        </p:nvSpPr>
        <p:spPr>
          <a:xfrm>
            <a:off x="4026245" y="292962"/>
            <a:ext cx="4017590" cy="70788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ar-EG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بسم الله الرحمن الرحيم</a:t>
            </a:r>
            <a:endParaRPr lang="en-US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729C0D-ED61-C1DA-FD27-98E516E1F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977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How To Choose The Best Pot For Cooking Rice On The Stove">
            <a:extLst>
              <a:ext uri="{FF2B5EF4-FFF2-40B4-BE49-F238E27FC236}">
                <a16:creationId xmlns:a16="http://schemas.microsoft.com/office/drawing/2014/main" id="{9114C968-C050-6AF6-A386-F29AB1B31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395" y="443884"/>
            <a:ext cx="5726097" cy="3220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tazzoni Professional 60cm Electric PYRO Steam Oven TFT Display | Walter  Dix &amp; Co">
            <a:extLst>
              <a:ext uri="{FF2B5EF4-FFF2-40B4-BE49-F238E27FC236}">
                <a16:creationId xmlns:a16="http://schemas.microsoft.com/office/drawing/2014/main" id="{8D02C339-56BB-98A0-8BD2-16737B267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1931" y="631887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9D465F-376D-1E5C-2088-FDDA4B6F516E}"/>
              </a:ext>
            </a:extLst>
          </p:cNvPr>
          <p:cNvSpPr txBox="1"/>
          <p:nvPr/>
        </p:nvSpPr>
        <p:spPr>
          <a:xfrm>
            <a:off x="7680748" y="2479737"/>
            <a:ext cx="165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X: 0 | 2 | 4 | 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357DF4-B7CE-A694-24D4-8C25FFB525F3}"/>
              </a:ext>
            </a:extLst>
          </p:cNvPr>
          <p:cNvCxnSpPr>
            <a:cxnSpLocks/>
          </p:cNvCxnSpPr>
          <p:nvPr/>
        </p:nvCxnSpPr>
        <p:spPr>
          <a:xfrm flipH="1">
            <a:off x="7902954" y="2849069"/>
            <a:ext cx="491614" cy="138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1971B7-FB64-6422-BF51-95AA1CBC457E}"/>
              </a:ext>
            </a:extLst>
          </p:cNvPr>
          <p:cNvCxnSpPr>
            <a:cxnSpLocks/>
          </p:cNvCxnSpPr>
          <p:nvPr/>
        </p:nvCxnSpPr>
        <p:spPr>
          <a:xfrm>
            <a:off x="8799773" y="2849069"/>
            <a:ext cx="98232" cy="14785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253DBB5-0D1B-B4A0-BF90-AB279F77FD6C}"/>
              </a:ext>
            </a:extLst>
          </p:cNvPr>
          <p:cNvCxnSpPr>
            <a:cxnSpLocks/>
          </p:cNvCxnSpPr>
          <p:nvPr/>
        </p:nvCxnSpPr>
        <p:spPr>
          <a:xfrm>
            <a:off x="9216801" y="2849069"/>
            <a:ext cx="788333" cy="12968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649D56A-E110-E586-24C0-C41B08582377}"/>
              </a:ext>
            </a:extLst>
          </p:cNvPr>
          <p:cNvSpPr txBox="1"/>
          <p:nvPr/>
        </p:nvSpPr>
        <p:spPr>
          <a:xfrm>
            <a:off x="7573376" y="4378264"/>
            <a:ext cx="659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50%</a:t>
            </a:r>
          </a:p>
          <a:p>
            <a:r>
              <a:rPr lang="en-US" dirty="0"/>
              <a:t>0.5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287547-8691-0652-16C4-C9026ABA6298}"/>
              </a:ext>
            </a:extLst>
          </p:cNvPr>
          <p:cNvSpPr txBox="1"/>
          <p:nvPr/>
        </p:nvSpPr>
        <p:spPr>
          <a:xfrm>
            <a:off x="8606898" y="4394447"/>
            <a:ext cx="7841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100%</a:t>
            </a:r>
          </a:p>
          <a:p>
            <a:r>
              <a:rPr lang="en-US" dirty="0"/>
              <a:t>1.0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0F7A0F-E5AF-DF3A-DFDE-BEB28143C89C}"/>
              </a:ext>
            </a:extLst>
          </p:cNvPr>
          <p:cNvSpPr txBox="1"/>
          <p:nvPr/>
        </p:nvSpPr>
        <p:spPr>
          <a:xfrm>
            <a:off x="9851522" y="4331156"/>
            <a:ext cx="7841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150%</a:t>
            </a:r>
          </a:p>
          <a:p>
            <a:r>
              <a:rPr lang="en-US" dirty="0"/>
              <a:t>1.5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CC2105-56A4-0785-1D65-D47640623F99}"/>
              </a:ext>
            </a:extLst>
          </p:cNvPr>
          <p:cNvSpPr txBox="1"/>
          <p:nvPr/>
        </p:nvSpPr>
        <p:spPr>
          <a:xfrm>
            <a:off x="6202884" y="4671446"/>
            <a:ext cx="392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Y: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88F59F4-0B8D-3072-3D65-E5F5C22F3439}"/>
              </a:ext>
            </a:extLst>
          </p:cNvPr>
          <p:cNvCxnSpPr>
            <a:cxnSpLocks/>
          </p:cNvCxnSpPr>
          <p:nvPr/>
        </p:nvCxnSpPr>
        <p:spPr>
          <a:xfrm flipH="1">
            <a:off x="6969159" y="2849069"/>
            <a:ext cx="1157145" cy="1529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C0A2889-4301-F8B7-5771-95684D9E986A}"/>
              </a:ext>
            </a:extLst>
          </p:cNvPr>
          <p:cNvSpPr txBox="1"/>
          <p:nvPr/>
        </p:nvSpPr>
        <p:spPr>
          <a:xfrm>
            <a:off x="6639581" y="4394447"/>
            <a:ext cx="534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0%</a:t>
            </a:r>
          </a:p>
          <a:p>
            <a:r>
              <a:rPr lang="en-US" dirty="0"/>
              <a:t>0.0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1E1B88B-BD57-6A22-E479-1102CF0D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250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/>
      <p:bldP spid="15" grpId="0"/>
      <p:bldP spid="18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8090BBD-35C7-7C01-596E-8CB8FF0543B0}"/>
              </a:ext>
            </a:extLst>
          </p:cNvPr>
          <p:cNvCxnSpPr>
            <a:cxnSpLocks/>
          </p:cNvCxnSpPr>
          <p:nvPr/>
        </p:nvCxnSpPr>
        <p:spPr>
          <a:xfrm>
            <a:off x="5921102" y="546743"/>
            <a:ext cx="35237" cy="48539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55AD49-1C20-E1FE-53BE-464519469F50}"/>
              </a:ext>
            </a:extLst>
          </p:cNvPr>
          <p:cNvCxnSpPr>
            <a:cxnSpLocks/>
          </p:cNvCxnSpPr>
          <p:nvPr/>
        </p:nvCxnSpPr>
        <p:spPr>
          <a:xfrm>
            <a:off x="3280097" y="3195158"/>
            <a:ext cx="5203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8E930FA-1907-39AD-F319-8069CDA5C3A8}"/>
              </a:ext>
            </a:extLst>
          </p:cNvPr>
          <p:cNvSpPr txBox="1"/>
          <p:nvPr/>
        </p:nvSpPr>
        <p:spPr>
          <a:xfrm>
            <a:off x="8590327" y="3514987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X-axis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37BC4D-778C-CE76-D0EB-82AB3AAC4148}"/>
              </a:ext>
            </a:extLst>
          </p:cNvPr>
          <p:cNvSpPr txBox="1"/>
          <p:nvPr/>
        </p:nvSpPr>
        <p:spPr>
          <a:xfrm>
            <a:off x="5935912" y="8388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Y-axis</a:t>
            </a: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88B89C52-DCA3-6182-EEFC-C6A31950F084}"/>
              </a:ext>
            </a:extLst>
          </p:cNvPr>
          <p:cNvSpPr/>
          <p:nvPr/>
        </p:nvSpPr>
        <p:spPr>
          <a:xfrm rot="5028370">
            <a:off x="4721895" y="-462924"/>
            <a:ext cx="2996581" cy="3342309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94D3E9-F77B-7DA0-C7FB-7B51A539E18B}"/>
              </a:ext>
            </a:extLst>
          </p:cNvPr>
          <p:cNvSpPr txBox="1"/>
          <p:nvPr/>
        </p:nvSpPr>
        <p:spPr>
          <a:xfrm>
            <a:off x="634002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411F71-3270-8E08-CFF6-BE1C0BDA9EF7}"/>
              </a:ext>
            </a:extLst>
          </p:cNvPr>
          <p:cNvSpPr txBox="1"/>
          <p:nvPr/>
        </p:nvSpPr>
        <p:spPr>
          <a:xfrm>
            <a:off x="6650340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FDA2AF-9A51-1CD2-8752-370BBD233379}"/>
              </a:ext>
            </a:extLst>
          </p:cNvPr>
          <p:cNvSpPr txBox="1"/>
          <p:nvPr/>
        </p:nvSpPr>
        <p:spPr>
          <a:xfrm>
            <a:off x="7027299" y="335332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CC0B7C-0781-7972-1363-3C1474B5D13B}"/>
              </a:ext>
            </a:extLst>
          </p:cNvPr>
          <p:cNvSpPr txBox="1"/>
          <p:nvPr/>
        </p:nvSpPr>
        <p:spPr>
          <a:xfrm>
            <a:off x="7391031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E3EAEF-19E1-50D4-9118-0E73F8772C3F}"/>
              </a:ext>
            </a:extLst>
          </p:cNvPr>
          <p:cNvSpPr txBox="1"/>
          <p:nvPr/>
        </p:nvSpPr>
        <p:spPr>
          <a:xfrm>
            <a:off x="777548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2CE46A-E77E-319C-D08B-AF1E4F7E64E7}"/>
              </a:ext>
            </a:extLst>
          </p:cNvPr>
          <p:cNvSpPr txBox="1"/>
          <p:nvPr/>
        </p:nvSpPr>
        <p:spPr>
          <a:xfrm>
            <a:off x="5602237" y="2611075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D82D95-0FF6-E4A4-7002-EB2F8F940851}"/>
              </a:ext>
            </a:extLst>
          </p:cNvPr>
          <p:cNvSpPr txBox="1"/>
          <p:nvPr/>
        </p:nvSpPr>
        <p:spPr>
          <a:xfrm>
            <a:off x="5593072" y="226824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F3F769-3FA5-E3C5-91B9-6CE19826D670}"/>
              </a:ext>
            </a:extLst>
          </p:cNvPr>
          <p:cNvSpPr txBox="1"/>
          <p:nvPr/>
        </p:nvSpPr>
        <p:spPr>
          <a:xfrm>
            <a:off x="5593072" y="191999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4AEC12-DC47-EA79-32DD-81450B0232D8}"/>
              </a:ext>
            </a:extLst>
          </p:cNvPr>
          <p:cNvSpPr txBox="1"/>
          <p:nvPr/>
        </p:nvSpPr>
        <p:spPr>
          <a:xfrm>
            <a:off x="5582728" y="156140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81710E-D870-3D5C-B602-CE5AC2FE12A4}"/>
              </a:ext>
            </a:extLst>
          </p:cNvPr>
          <p:cNvSpPr txBox="1"/>
          <p:nvPr/>
        </p:nvSpPr>
        <p:spPr>
          <a:xfrm>
            <a:off x="5572383" y="120240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3C9F08-8328-0D0E-0B7B-F7C0F3571316}"/>
              </a:ext>
            </a:extLst>
          </p:cNvPr>
          <p:cNvSpPr txBox="1"/>
          <p:nvPr/>
        </p:nvSpPr>
        <p:spPr>
          <a:xfrm>
            <a:off x="5566492" y="81025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0738A0-6F24-FC4B-9894-E41622085DBD}"/>
              </a:ext>
            </a:extLst>
          </p:cNvPr>
          <p:cNvSpPr txBox="1"/>
          <p:nvPr/>
        </p:nvSpPr>
        <p:spPr>
          <a:xfrm>
            <a:off x="7115133" y="1571740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func</a:t>
            </a:r>
            <a:r>
              <a:rPr lang="en-US" dirty="0"/>
              <a:t>(x)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52FDEA8-76C6-C89C-F55D-1F852922F61E}"/>
              </a:ext>
            </a:extLst>
          </p:cNvPr>
          <p:cNvCxnSpPr>
            <a:stCxn id="17" idx="2"/>
          </p:cNvCxnSpPr>
          <p:nvPr/>
        </p:nvCxnSpPr>
        <p:spPr>
          <a:xfrm>
            <a:off x="6381839" y="2697775"/>
            <a:ext cx="52517" cy="20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EA8BA60-491D-40E9-9091-40C4EF2297CF}"/>
              </a:ext>
            </a:extLst>
          </p:cNvPr>
          <p:cNvCxnSpPr>
            <a:cxnSpLocks/>
          </p:cNvCxnSpPr>
          <p:nvPr/>
        </p:nvCxnSpPr>
        <p:spPr>
          <a:xfrm flipV="1">
            <a:off x="6510787" y="2690728"/>
            <a:ext cx="577" cy="479508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2AB46DF-BC56-B236-391A-30BC5C3FF9C1}"/>
              </a:ext>
            </a:extLst>
          </p:cNvPr>
          <p:cNvCxnSpPr>
            <a:cxnSpLocks/>
          </p:cNvCxnSpPr>
          <p:nvPr/>
        </p:nvCxnSpPr>
        <p:spPr>
          <a:xfrm>
            <a:off x="5956339" y="2690728"/>
            <a:ext cx="563140" cy="17176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3EF8009-8A1E-BFDB-18CE-C48C6077AF97}"/>
              </a:ext>
            </a:extLst>
          </p:cNvPr>
          <p:cNvSpPr txBox="1"/>
          <p:nvPr/>
        </p:nvSpPr>
        <p:spPr>
          <a:xfrm>
            <a:off x="6563881" y="2642217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f(x=1) = 1.25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A5C4B81-8E1E-8780-D74B-A616547E49C5}"/>
              </a:ext>
            </a:extLst>
          </p:cNvPr>
          <p:cNvCxnSpPr>
            <a:cxnSpLocks/>
          </p:cNvCxnSpPr>
          <p:nvPr/>
        </p:nvCxnSpPr>
        <p:spPr>
          <a:xfrm flipH="1" flipV="1">
            <a:off x="7913561" y="994923"/>
            <a:ext cx="4194" cy="219002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ACB4024-5EAF-E7A7-7C2A-330E08FE0BCF}"/>
              </a:ext>
            </a:extLst>
          </p:cNvPr>
          <p:cNvCxnSpPr>
            <a:cxnSpLocks/>
            <a:stCxn id="15" idx="1"/>
            <a:endCxn id="17" idx="0"/>
          </p:cNvCxnSpPr>
          <p:nvPr/>
        </p:nvCxnSpPr>
        <p:spPr>
          <a:xfrm>
            <a:off x="5935912" y="1023565"/>
            <a:ext cx="1945673" cy="436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17F003E-AD64-AC33-418D-0723DFB8DBA8}"/>
              </a:ext>
            </a:extLst>
          </p:cNvPr>
          <p:cNvSpPr txBox="1"/>
          <p:nvPr/>
        </p:nvSpPr>
        <p:spPr>
          <a:xfrm>
            <a:off x="8043239" y="1756406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f(x=1+4) = 6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863EDF7-016E-DFB1-A177-BE478AC4660B}"/>
              </a:ext>
            </a:extLst>
          </p:cNvPr>
          <p:cNvCxnSpPr>
            <a:cxnSpLocks/>
          </p:cNvCxnSpPr>
          <p:nvPr/>
        </p:nvCxnSpPr>
        <p:spPr>
          <a:xfrm>
            <a:off x="6494879" y="3884319"/>
            <a:ext cx="1385679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07F0FCF-EDD5-B23E-8C31-7EF120FFADB1}"/>
              </a:ext>
            </a:extLst>
          </p:cNvPr>
          <p:cNvSpPr txBox="1"/>
          <p:nvPr/>
        </p:nvSpPr>
        <p:spPr>
          <a:xfrm>
            <a:off x="7035493" y="394750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4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E65B480-A0BF-4E67-C5B5-03369938E193}"/>
              </a:ext>
            </a:extLst>
          </p:cNvPr>
          <p:cNvCxnSpPr>
            <a:cxnSpLocks/>
          </p:cNvCxnSpPr>
          <p:nvPr/>
        </p:nvCxnSpPr>
        <p:spPr>
          <a:xfrm>
            <a:off x="9672661" y="985945"/>
            <a:ext cx="20032" cy="172311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26433C9-A69D-4299-4883-B7DDC3E55F2E}"/>
              </a:ext>
            </a:extLst>
          </p:cNvPr>
          <p:cNvSpPr txBox="1"/>
          <p:nvPr/>
        </p:nvSpPr>
        <p:spPr>
          <a:xfrm>
            <a:off x="9781563" y="1756406"/>
            <a:ext cx="1872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f(1+4)-f(1)=4.75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AE82974-47F0-F721-79E3-BE40781A4220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7881585" y="1023565"/>
            <a:ext cx="1801092" cy="4360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E64FF88-3BDB-1913-78E5-3587C5AB283C}"/>
              </a:ext>
            </a:extLst>
          </p:cNvPr>
          <p:cNvCxnSpPr>
            <a:cxnSpLocks/>
            <a:endCxn id="17" idx="2"/>
          </p:cNvCxnSpPr>
          <p:nvPr/>
        </p:nvCxnSpPr>
        <p:spPr>
          <a:xfrm flipH="1">
            <a:off x="6381839" y="2680513"/>
            <a:ext cx="3310854" cy="17262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D725018-B5F6-1293-6931-7E8A5D32578C}"/>
              </a:ext>
            </a:extLst>
          </p:cNvPr>
          <p:cNvSpPr txBox="1"/>
          <p:nvPr/>
        </p:nvSpPr>
        <p:spPr>
          <a:xfrm>
            <a:off x="8850385" y="4655890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(f(1+4)-f(1)) / 4 = 1.2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57533F8-5E64-C1EB-C5F4-44C8CE23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9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 animBg="1"/>
      <p:bldP spid="18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30" grpId="0"/>
      <p:bldP spid="33" grpId="0"/>
      <p:bldP spid="43" grpId="0"/>
      <p:bldP spid="55" grpId="0"/>
      <p:bldP spid="59" grpId="0"/>
      <p:bldP spid="63" grpId="0"/>
      <p:bldP spid="7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601B-2554-6A96-DE4B-5AEF641C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48B62C1-ADED-0082-C26C-4D27A56A04BA}"/>
              </a:ext>
            </a:extLst>
          </p:cNvPr>
          <p:cNvCxnSpPr>
            <a:cxnSpLocks/>
          </p:cNvCxnSpPr>
          <p:nvPr/>
        </p:nvCxnSpPr>
        <p:spPr>
          <a:xfrm>
            <a:off x="5921102" y="546743"/>
            <a:ext cx="35237" cy="48539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AA44EC-221B-1098-7EF3-61982711799B}"/>
              </a:ext>
            </a:extLst>
          </p:cNvPr>
          <p:cNvCxnSpPr>
            <a:cxnSpLocks/>
          </p:cNvCxnSpPr>
          <p:nvPr/>
        </p:nvCxnSpPr>
        <p:spPr>
          <a:xfrm>
            <a:off x="3280097" y="3195158"/>
            <a:ext cx="5203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A25A0B9-B75F-6B42-9D09-9B1ACB5D8A5C}"/>
              </a:ext>
            </a:extLst>
          </p:cNvPr>
          <p:cNvSpPr txBox="1"/>
          <p:nvPr/>
        </p:nvSpPr>
        <p:spPr>
          <a:xfrm>
            <a:off x="8590327" y="3514987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X-axis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FFF1DA-31FC-4AB3-4359-84CD11A1342C}"/>
              </a:ext>
            </a:extLst>
          </p:cNvPr>
          <p:cNvSpPr txBox="1"/>
          <p:nvPr/>
        </p:nvSpPr>
        <p:spPr>
          <a:xfrm>
            <a:off x="5935912" y="8388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Y-axis</a:t>
            </a: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F3D4521A-2377-D27A-5A2D-2B778987C3F1}"/>
              </a:ext>
            </a:extLst>
          </p:cNvPr>
          <p:cNvSpPr/>
          <p:nvPr/>
        </p:nvSpPr>
        <p:spPr>
          <a:xfrm rot="5028370">
            <a:off x="4721895" y="-462924"/>
            <a:ext cx="2996581" cy="3342309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0AFADB-AA0A-9DC9-B234-51B8714BB1A3}"/>
              </a:ext>
            </a:extLst>
          </p:cNvPr>
          <p:cNvSpPr txBox="1"/>
          <p:nvPr/>
        </p:nvSpPr>
        <p:spPr>
          <a:xfrm>
            <a:off x="634002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574A0D-34CF-D7E0-D507-4E88FB6E88B2}"/>
              </a:ext>
            </a:extLst>
          </p:cNvPr>
          <p:cNvSpPr txBox="1"/>
          <p:nvPr/>
        </p:nvSpPr>
        <p:spPr>
          <a:xfrm>
            <a:off x="6650340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BFD194-71C2-96EF-ACB3-49DA4DC8774C}"/>
              </a:ext>
            </a:extLst>
          </p:cNvPr>
          <p:cNvSpPr txBox="1"/>
          <p:nvPr/>
        </p:nvSpPr>
        <p:spPr>
          <a:xfrm>
            <a:off x="7027299" y="335332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13B4C65-9E6F-929F-4556-0841A2F26797}"/>
              </a:ext>
            </a:extLst>
          </p:cNvPr>
          <p:cNvSpPr txBox="1"/>
          <p:nvPr/>
        </p:nvSpPr>
        <p:spPr>
          <a:xfrm>
            <a:off x="7391031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AE07C2-D21C-203B-106C-74117F3E2EE9}"/>
              </a:ext>
            </a:extLst>
          </p:cNvPr>
          <p:cNvSpPr txBox="1"/>
          <p:nvPr/>
        </p:nvSpPr>
        <p:spPr>
          <a:xfrm>
            <a:off x="777548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66C5E8-423B-CDBB-2BFF-B0BAC209AF6E}"/>
              </a:ext>
            </a:extLst>
          </p:cNvPr>
          <p:cNvSpPr txBox="1"/>
          <p:nvPr/>
        </p:nvSpPr>
        <p:spPr>
          <a:xfrm>
            <a:off x="5602237" y="2611075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2E4D7-B1F2-E1BC-A3B0-CE86D2F24D7C}"/>
              </a:ext>
            </a:extLst>
          </p:cNvPr>
          <p:cNvSpPr txBox="1"/>
          <p:nvPr/>
        </p:nvSpPr>
        <p:spPr>
          <a:xfrm>
            <a:off x="5593072" y="226824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A79EA0-5457-D3FC-6EAC-F994AF8F4BA9}"/>
              </a:ext>
            </a:extLst>
          </p:cNvPr>
          <p:cNvSpPr txBox="1"/>
          <p:nvPr/>
        </p:nvSpPr>
        <p:spPr>
          <a:xfrm>
            <a:off x="5593072" y="191999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09FA8A-D21D-261B-1FDB-E62CC3556FFC}"/>
              </a:ext>
            </a:extLst>
          </p:cNvPr>
          <p:cNvSpPr txBox="1"/>
          <p:nvPr/>
        </p:nvSpPr>
        <p:spPr>
          <a:xfrm>
            <a:off x="5582728" y="156140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896050-16CD-8F43-1CDC-E7008ABF8F56}"/>
              </a:ext>
            </a:extLst>
          </p:cNvPr>
          <p:cNvSpPr txBox="1"/>
          <p:nvPr/>
        </p:nvSpPr>
        <p:spPr>
          <a:xfrm>
            <a:off x="5572383" y="120240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66D150-FA81-ED8B-4590-B988743DB7FE}"/>
              </a:ext>
            </a:extLst>
          </p:cNvPr>
          <p:cNvSpPr txBox="1"/>
          <p:nvPr/>
        </p:nvSpPr>
        <p:spPr>
          <a:xfrm>
            <a:off x="5566492" y="81025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25AE33-1C0D-6251-A744-BBC300DE54BF}"/>
              </a:ext>
            </a:extLst>
          </p:cNvPr>
          <p:cNvSpPr txBox="1"/>
          <p:nvPr/>
        </p:nvSpPr>
        <p:spPr>
          <a:xfrm>
            <a:off x="7115133" y="1571740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f(x)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116F9D7-2F6A-9E5A-5650-6C50CE032959}"/>
              </a:ext>
            </a:extLst>
          </p:cNvPr>
          <p:cNvCxnSpPr>
            <a:stCxn id="17" idx="2"/>
          </p:cNvCxnSpPr>
          <p:nvPr/>
        </p:nvCxnSpPr>
        <p:spPr>
          <a:xfrm>
            <a:off x="6381839" y="2697775"/>
            <a:ext cx="52517" cy="20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363030A-BE3D-5EC5-3558-BE3C4AAFBB76}"/>
              </a:ext>
            </a:extLst>
          </p:cNvPr>
          <p:cNvCxnSpPr>
            <a:cxnSpLocks/>
          </p:cNvCxnSpPr>
          <p:nvPr/>
        </p:nvCxnSpPr>
        <p:spPr>
          <a:xfrm flipV="1">
            <a:off x="6770846" y="2611075"/>
            <a:ext cx="0" cy="559161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195B57F-7ED2-02B1-35FE-3F7415B5E471}"/>
              </a:ext>
            </a:extLst>
          </p:cNvPr>
          <p:cNvCxnSpPr>
            <a:cxnSpLocks/>
          </p:cNvCxnSpPr>
          <p:nvPr/>
        </p:nvCxnSpPr>
        <p:spPr>
          <a:xfrm>
            <a:off x="5956339" y="2556504"/>
            <a:ext cx="878680" cy="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19BD0B2-E574-25BD-27BE-CB7ABABE47C9}"/>
              </a:ext>
            </a:extLst>
          </p:cNvPr>
          <p:cNvSpPr txBox="1"/>
          <p:nvPr/>
        </p:nvSpPr>
        <p:spPr>
          <a:xfrm>
            <a:off x="6835019" y="2665912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f(x=2) = 2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716F4D6-07FA-45C4-7DBB-A5F273308B7C}"/>
              </a:ext>
            </a:extLst>
          </p:cNvPr>
          <p:cNvCxnSpPr>
            <a:cxnSpLocks/>
          </p:cNvCxnSpPr>
          <p:nvPr/>
        </p:nvCxnSpPr>
        <p:spPr>
          <a:xfrm flipH="1" flipV="1">
            <a:off x="7913561" y="994923"/>
            <a:ext cx="4194" cy="219002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0320FF-4FED-5512-2FCA-74FEB2E7FB05}"/>
              </a:ext>
            </a:extLst>
          </p:cNvPr>
          <p:cNvCxnSpPr>
            <a:cxnSpLocks/>
            <a:stCxn id="15" idx="1"/>
            <a:endCxn id="17" idx="0"/>
          </p:cNvCxnSpPr>
          <p:nvPr/>
        </p:nvCxnSpPr>
        <p:spPr>
          <a:xfrm>
            <a:off x="5935912" y="1023565"/>
            <a:ext cx="1945673" cy="436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112AAD6-2483-D6CA-DCF6-724915FB87BA}"/>
              </a:ext>
            </a:extLst>
          </p:cNvPr>
          <p:cNvSpPr txBox="1"/>
          <p:nvPr/>
        </p:nvSpPr>
        <p:spPr>
          <a:xfrm>
            <a:off x="8043239" y="1756406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f(x=2+3) = 6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758B50E-915A-ECC2-A95E-79981FF5893B}"/>
              </a:ext>
            </a:extLst>
          </p:cNvPr>
          <p:cNvCxnSpPr>
            <a:cxnSpLocks/>
          </p:cNvCxnSpPr>
          <p:nvPr/>
        </p:nvCxnSpPr>
        <p:spPr>
          <a:xfrm>
            <a:off x="6770846" y="3884319"/>
            <a:ext cx="1142715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21C412-4CF6-5D82-5570-85A022C40A20}"/>
              </a:ext>
            </a:extLst>
          </p:cNvPr>
          <p:cNvSpPr txBox="1"/>
          <p:nvPr/>
        </p:nvSpPr>
        <p:spPr>
          <a:xfrm>
            <a:off x="7182149" y="39810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13A8FF3-62EC-906E-8779-5DE48CB4DCEF}"/>
              </a:ext>
            </a:extLst>
          </p:cNvPr>
          <p:cNvCxnSpPr>
            <a:cxnSpLocks/>
          </p:cNvCxnSpPr>
          <p:nvPr/>
        </p:nvCxnSpPr>
        <p:spPr>
          <a:xfrm>
            <a:off x="9672661" y="985945"/>
            <a:ext cx="20032" cy="172311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099D0F8-7918-5596-80A7-14BBD5DC7978}"/>
              </a:ext>
            </a:extLst>
          </p:cNvPr>
          <p:cNvSpPr txBox="1"/>
          <p:nvPr/>
        </p:nvSpPr>
        <p:spPr>
          <a:xfrm>
            <a:off x="9781563" y="1756406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f(2+3)-f(2)=4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C40C762-1167-5F3B-C97F-66908A821168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7881585" y="1023565"/>
            <a:ext cx="1801092" cy="4360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299E2C7-618B-AC8F-7E77-64407BAC8474}"/>
              </a:ext>
            </a:extLst>
          </p:cNvPr>
          <p:cNvCxnSpPr>
            <a:cxnSpLocks/>
            <a:endCxn id="17" idx="2"/>
          </p:cNvCxnSpPr>
          <p:nvPr/>
        </p:nvCxnSpPr>
        <p:spPr>
          <a:xfrm flipH="1">
            <a:off x="6381839" y="2680513"/>
            <a:ext cx="3310854" cy="17262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32C01F4-7996-6231-3FB3-D26A3F1F6F1A}"/>
              </a:ext>
            </a:extLst>
          </p:cNvPr>
          <p:cNvSpPr txBox="1"/>
          <p:nvPr/>
        </p:nvSpPr>
        <p:spPr>
          <a:xfrm>
            <a:off x="8850385" y="4655890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(f(2+3)-f(2)) / 3 = 1.2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933442-1A11-6500-1A7E-FA6E4115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668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E31D1D8-0418-7D51-65D6-5F5951BC0441}"/>
              </a:ext>
            </a:extLst>
          </p:cNvPr>
          <p:cNvCxnSpPr>
            <a:cxnSpLocks/>
          </p:cNvCxnSpPr>
          <p:nvPr/>
        </p:nvCxnSpPr>
        <p:spPr>
          <a:xfrm>
            <a:off x="4025188" y="496409"/>
            <a:ext cx="35237" cy="48539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3A4BFE9-EC7D-A106-4F7A-AF9CA0CA8931}"/>
              </a:ext>
            </a:extLst>
          </p:cNvPr>
          <p:cNvCxnSpPr>
            <a:cxnSpLocks/>
          </p:cNvCxnSpPr>
          <p:nvPr/>
        </p:nvCxnSpPr>
        <p:spPr>
          <a:xfrm>
            <a:off x="1384183" y="3144824"/>
            <a:ext cx="5203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>
            <a:extLst>
              <a:ext uri="{FF2B5EF4-FFF2-40B4-BE49-F238E27FC236}">
                <a16:creationId xmlns:a16="http://schemas.microsoft.com/office/drawing/2014/main" id="{107C7FF6-0246-9798-3BFF-5F72BC3298B6}"/>
              </a:ext>
            </a:extLst>
          </p:cNvPr>
          <p:cNvSpPr/>
          <p:nvPr/>
        </p:nvSpPr>
        <p:spPr>
          <a:xfrm rot="5028370">
            <a:off x="2851068" y="-490747"/>
            <a:ext cx="2996581" cy="3291840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21AFBFE-BC9B-D7C8-E116-79E339AB4087}"/>
              </a:ext>
            </a:extLst>
          </p:cNvPr>
          <p:cNvCxnSpPr>
            <a:cxnSpLocks/>
          </p:cNvCxnSpPr>
          <p:nvPr/>
        </p:nvCxnSpPr>
        <p:spPr>
          <a:xfrm flipV="1">
            <a:off x="4060425" y="496409"/>
            <a:ext cx="3405775" cy="26484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8029A4B-4B75-C6BF-F498-DB92D176699A}"/>
              </a:ext>
            </a:extLst>
          </p:cNvPr>
          <p:cNvSpPr txBox="1"/>
          <p:nvPr/>
        </p:nvSpPr>
        <p:spPr>
          <a:xfrm>
            <a:off x="5512282" y="1157896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3D8AAE-65E1-ED19-F5EB-CF1F82506952}"/>
              </a:ext>
            </a:extLst>
          </p:cNvPr>
          <p:cNvSpPr txBox="1"/>
          <p:nvPr/>
        </p:nvSpPr>
        <p:spPr>
          <a:xfrm>
            <a:off x="6450399" y="620633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1.0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802E9718-80EC-F4D0-43AA-6AF497710FCD}"/>
              </a:ext>
            </a:extLst>
          </p:cNvPr>
          <p:cNvSpPr/>
          <p:nvPr/>
        </p:nvSpPr>
        <p:spPr>
          <a:xfrm rot="15864794">
            <a:off x="5921790" y="1096899"/>
            <a:ext cx="2996581" cy="3342309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A903AB-1216-4A2B-4D7F-979BB95B5178}"/>
              </a:ext>
            </a:extLst>
          </p:cNvPr>
          <p:cNvSpPr txBox="1"/>
          <p:nvPr/>
        </p:nvSpPr>
        <p:spPr>
          <a:xfrm>
            <a:off x="7237705" y="989965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0.8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3729D-E878-E160-B311-8E03774AF082}"/>
              </a:ext>
            </a:extLst>
          </p:cNvPr>
          <p:cNvSpPr/>
          <p:nvPr/>
        </p:nvSpPr>
        <p:spPr>
          <a:xfrm>
            <a:off x="854373" y="5435374"/>
            <a:ext cx="1018977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Derivative | </a:t>
            </a:r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Slope | Gradient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8D4537-5963-186B-2E62-828D668F5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87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7F6A8-B5FB-D8A1-4060-4768A0B10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4DFFDB-2A06-2A16-EABC-C187CC495213}"/>
              </a:ext>
            </a:extLst>
          </p:cNvPr>
          <p:cNvCxnSpPr>
            <a:cxnSpLocks/>
          </p:cNvCxnSpPr>
          <p:nvPr/>
        </p:nvCxnSpPr>
        <p:spPr>
          <a:xfrm>
            <a:off x="5921102" y="546743"/>
            <a:ext cx="35237" cy="48539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DB7BFD-044E-1CAD-D082-F934E259BBE3}"/>
              </a:ext>
            </a:extLst>
          </p:cNvPr>
          <p:cNvCxnSpPr>
            <a:cxnSpLocks/>
          </p:cNvCxnSpPr>
          <p:nvPr/>
        </p:nvCxnSpPr>
        <p:spPr>
          <a:xfrm>
            <a:off x="3280097" y="3195158"/>
            <a:ext cx="5203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9FDD6E5-179C-588D-CA73-7203188E0523}"/>
              </a:ext>
            </a:extLst>
          </p:cNvPr>
          <p:cNvSpPr txBox="1"/>
          <p:nvPr/>
        </p:nvSpPr>
        <p:spPr>
          <a:xfrm>
            <a:off x="8590327" y="3514987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X-axis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C8B116-5685-F896-6F4A-E72744408294}"/>
              </a:ext>
            </a:extLst>
          </p:cNvPr>
          <p:cNvSpPr txBox="1"/>
          <p:nvPr/>
        </p:nvSpPr>
        <p:spPr>
          <a:xfrm>
            <a:off x="5935912" y="8388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Y-axis</a:t>
            </a: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171EF96E-BFF4-6CC3-EDA0-5730D6C43872}"/>
              </a:ext>
            </a:extLst>
          </p:cNvPr>
          <p:cNvSpPr/>
          <p:nvPr/>
        </p:nvSpPr>
        <p:spPr>
          <a:xfrm rot="5028370">
            <a:off x="4721895" y="-462924"/>
            <a:ext cx="2996581" cy="3342309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3D716-CCDE-C93A-F914-8F70D634E598}"/>
              </a:ext>
            </a:extLst>
          </p:cNvPr>
          <p:cNvSpPr txBox="1"/>
          <p:nvPr/>
        </p:nvSpPr>
        <p:spPr>
          <a:xfrm>
            <a:off x="634002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3433BC-4B2A-E509-4539-5AAD8CC22C64}"/>
              </a:ext>
            </a:extLst>
          </p:cNvPr>
          <p:cNvSpPr txBox="1"/>
          <p:nvPr/>
        </p:nvSpPr>
        <p:spPr>
          <a:xfrm>
            <a:off x="6650340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DE48F2-723B-2CFB-C412-D3D7550123C0}"/>
              </a:ext>
            </a:extLst>
          </p:cNvPr>
          <p:cNvSpPr txBox="1"/>
          <p:nvPr/>
        </p:nvSpPr>
        <p:spPr>
          <a:xfrm>
            <a:off x="7027299" y="335332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D16BD0-79EE-6576-5C09-184C272CE0AB}"/>
              </a:ext>
            </a:extLst>
          </p:cNvPr>
          <p:cNvSpPr txBox="1"/>
          <p:nvPr/>
        </p:nvSpPr>
        <p:spPr>
          <a:xfrm>
            <a:off x="7391031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07AA08-8C0F-B648-8159-7D1768FC204F}"/>
              </a:ext>
            </a:extLst>
          </p:cNvPr>
          <p:cNvSpPr txBox="1"/>
          <p:nvPr/>
        </p:nvSpPr>
        <p:spPr>
          <a:xfrm>
            <a:off x="7775489" y="335280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C946B8-98AA-F79C-494A-20E7305E5A30}"/>
              </a:ext>
            </a:extLst>
          </p:cNvPr>
          <p:cNvSpPr txBox="1"/>
          <p:nvPr/>
        </p:nvSpPr>
        <p:spPr>
          <a:xfrm>
            <a:off x="5602237" y="2611075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B04072-644F-CD61-08D2-C24B3BF431D1}"/>
              </a:ext>
            </a:extLst>
          </p:cNvPr>
          <p:cNvSpPr txBox="1"/>
          <p:nvPr/>
        </p:nvSpPr>
        <p:spPr>
          <a:xfrm>
            <a:off x="5593072" y="226824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3D4692-D33C-88EF-43D6-B56E5373227A}"/>
              </a:ext>
            </a:extLst>
          </p:cNvPr>
          <p:cNvSpPr txBox="1"/>
          <p:nvPr/>
        </p:nvSpPr>
        <p:spPr>
          <a:xfrm>
            <a:off x="5593072" y="191999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E8E44B-3B1D-F32D-9005-8FECE09AA92F}"/>
              </a:ext>
            </a:extLst>
          </p:cNvPr>
          <p:cNvSpPr txBox="1"/>
          <p:nvPr/>
        </p:nvSpPr>
        <p:spPr>
          <a:xfrm>
            <a:off x="5582728" y="156140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DB2C12-1A34-087F-B2E9-E89E4F04199B}"/>
              </a:ext>
            </a:extLst>
          </p:cNvPr>
          <p:cNvSpPr txBox="1"/>
          <p:nvPr/>
        </p:nvSpPr>
        <p:spPr>
          <a:xfrm>
            <a:off x="5572383" y="120240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65136-2DFD-8F8C-6A14-609732721474}"/>
              </a:ext>
            </a:extLst>
          </p:cNvPr>
          <p:cNvSpPr txBox="1"/>
          <p:nvPr/>
        </p:nvSpPr>
        <p:spPr>
          <a:xfrm>
            <a:off x="5566492" y="81025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9D846B-CFE8-5F74-58B6-3488B23EC818}"/>
              </a:ext>
            </a:extLst>
          </p:cNvPr>
          <p:cNvSpPr txBox="1"/>
          <p:nvPr/>
        </p:nvSpPr>
        <p:spPr>
          <a:xfrm>
            <a:off x="7115133" y="1571740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f(x)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643B7AA-A5C9-9D51-7BCE-B43D186ACF5B}"/>
              </a:ext>
            </a:extLst>
          </p:cNvPr>
          <p:cNvCxnSpPr>
            <a:stCxn id="17" idx="2"/>
          </p:cNvCxnSpPr>
          <p:nvPr/>
        </p:nvCxnSpPr>
        <p:spPr>
          <a:xfrm>
            <a:off x="6381839" y="2697775"/>
            <a:ext cx="52517" cy="20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B6BCCFF-2881-8150-399D-91F450E52CEF}"/>
              </a:ext>
            </a:extLst>
          </p:cNvPr>
          <p:cNvCxnSpPr>
            <a:cxnSpLocks/>
          </p:cNvCxnSpPr>
          <p:nvPr/>
        </p:nvCxnSpPr>
        <p:spPr>
          <a:xfrm flipV="1">
            <a:off x="6770846" y="2611075"/>
            <a:ext cx="0" cy="559161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B6A3714-B9D4-DFC2-B78F-63A8153827D6}"/>
              </a:ext>
            </a:extLst>
          </p:cNvPr>
          <p:cNvCxnSpPr>
            <a:cxnSpLocks/>
          </p:cNvCxnSpPr>
          <p:nvPr/>
        </p:nvCxnSpPr>
        <p:spPr>
          <a:xfrm>
            <a:off x="5956339" y="2556504"/>
            <a:ext cx="878680" cy="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5F6FF693-AC4D-E75B-A2B0-81AA64D6D408}"/>
              </a:ext>
            </a:extLst>
          </p:cNvPr>
          <p:cNvSpPr txBox="1"/>
          <p:nvPr/>
        </p:nvSpPr>
        <p:spPr>
          <a:xfrm>
            <a:off x="6835019" y="2665912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f(x=2) = 2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D25382D-B357-9670-3CA5-DE9EBED7F679}"/>
              </a:ext>
            </a:extLst>
          </p:cNvPr>
          <p:cNvCxnSpPr>
            <a:cxnSpLocks/>
          </p:cNvCxnSpPr>
          <p:nvPr/>
        </p:nvCxnSpPr>
        <p:spPr>
          <a:xfrm flipH="1" flipV="1">
            <a:off x="7913561" y="994923"/>
            <a:ext cx="4194" cy="219002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2077A17-A389-4A4B-16D6-18A03A2E1663}"/>
              </a:ext>
            </a:extLst>
          </p:cNvPr>
          <p:cNvCxnSpPr>
            <a:cxnSpLocks/>
            <a:stCxn id="15" idx="1"/>
            <a:endCxn id="17" idx="0"/>
          </p:cNvCxnSpPr>
          <p:nvPr/>
        </p:nvCxnSpPr>
        <p:spPr>
          <a:xfrm>
            <a:off x="5935912" y="1023565"/>
            <a:ext cx="1945673" cy="436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7CDBD9-E1C2-8CA2-4233-D82478EC5ADE}"/>
              </a:ext>
            </a:extLst>
          </p:cNvPr>
          <p:cNvSpPr txBox="1"/>
          <p:nvPr/>
        </p:nvSpPr>
        <p:spPr>
          <a:xfrm>
            <a:off x="8043239" y="1756406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f(x=2+3) = 6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E66C46C-FE42-F166-DBEF-9737EA95DEF8}"/>
              </a:ext>
            </a:extLst>
          </p:cNvPr>
          <p:cNvCxnSpPr>
            <a:cxnSpLocks/>
          </p:cNvCxnSpPr>
          <p:nvPr/>
        </p:nvCxnSpPr>
        <p:spPr>
          <a:xfrm>
            <a:off x="6770846" y="3884319"/>
            <a:ext cx="1142715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080D098-5A23-20C9-D6E9-08DF6E068781}"/>
              </a:ext>
            </a:extLst>
          </p:cNvPr>
          <p:cNvSpPr txBox="1"/>
          <p:nvPr/>
        </p:nvSpPr>
        <p:spPr>
          <a:xfrm>
            <a:off x="7182149" y="39810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AB29CD0-7531-F843-AE96-597DAA09F611}"/>
              </a:ext>
            </a:extLst>
          </p:cNvPr>
          <p:cNvCxnSpPr>
            <a:cxnSpLocks/>
          </p:cNvCxnSpPr>
          <p:nvPr/>
        </p:nvCxnSpPr>
        <p:spPr>
          <a:xfrm>
            <a:off x="9672661" y="985945"/>
            <a:ext cx="20032" cy="172311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97DE846-87B0-6416-BD8F-61F98611768D}"/>
              </a:ext>
            </a:extLst>
          </p:cNvPr>
          <p:cNvSpPr txBox="1"/>
          <p:nvPr/>
        </p:nvSpPr>
        <p:spPr>
          <a:xfrm>
            <a:off x="9781563" y="1756406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f(2+3)-f(2)=4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4CE9E1F-1C61-1DFF-4A92-A5402766DEFB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7881585" y="1023565"/>
            <a:ext cx="1801092" cy="4360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C6FCA83-6399-AAC7-AFC2-C60751EF01E9}"/>
              </a:ext>
            </a:extLst>
          </p:cNvPr>
          <p:cNvCxnSpPr>
            <a:cxnSpLocks/>
            <a:endCxn id="17" idx="2"/>
          </p:cNvCxnSpPr>
          <p:nvPr/>
        </p:nvCxnSpPr>
        <p:spPr>
          <a:xfrm flipH="1">
            <a:off x="6381839" y="2680513"/>
            <a:ext cx="3310854" cy="17262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3A1F83-69E8-57B5-DD33-F95B2ECF269D}"/>
              </a:ext>
            </a:extLst>
          </p:cNvPr>
          <p:cNvSpPr txBox="1"/>
          <p:nvPr/>
        </p:nvSpPr>
        <p:spPr>
          <a:xfrm>
            <a:off x="8850385" y="4655890"/>
            <a:ext cx="2906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(f(2+3)-f(2)) / (5 – 2) = 1.2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06A2E8-68FB-EF00-8BA9-58A3A255A464}"/>
              </a:ext>
            </a:extLst>
          </p:cNvPr>
          <p:cNvSpPr/>
          <p:nvPr/>
        </p:nvSpPr>
        <p:spPr>
          <a:xfrm>
            <a:off x="1174472" y="5474534"/>
            <a:ext cx="697402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LET’s GENERALIZE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243CC9-2530-9070-ADB1-DD6A93225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 dirty="0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416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E2B39-A296-1DD8-EF8B-DB03B01B4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6E41960-646B-30E5-34D0-5EEF0217D3EF}"/>
              </a:ext>
            </a:extLst>
          </p:cNvPr>
          <p:cNvCxnSpPr>
            <a:cxnSpLocks/>
          </p:cNvCxnSpPr>
          <p:nvPr/>
        </p:nvCxnSpPr>
        <p:spPr>
          <a:xfrm>
            <a:off x="5921102" y="546743"/>
            <a:ext cx="35237" cy="485393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C975050-8E3F-BA7B-D4F3-7D38084DCAC2}"/>
              </a:ext>
            </a:extLst>
          </p:cNvPr>
          <p:cNvCxnSpPr>
            <a:cxnSpLocks/>
          </p:cNvCxnSpPr>
          <p:nvPr/>
        </p:nvCxnSpPr>
        <p:spPr>
          <a:xfrm>
            <a:off x="3280097" y="3195158"/>
            <a:ext cx="52039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854286D-76A0-9734-7FFE-BB1B21628FE6}"/>
              </a:ext>
            </a:extLst>
          </p:cNvPr>
          <p:cNvSpPr txBox="1"/>
          <p:nvPr/>
        </p:nvSpPr>
        <p:spPr>
          <a:xfrm>
            <a:off x="8590327" y="3514987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X-axis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81785F-67A8-6640-6663-9835F06E187F}"/>
              </a:ext>
            </a:extLst>
          </p:cNvPr>
          <p:cNvSpPr txBox="1"/>
          <p:nvPr/>
        </p:nvSpPr>
        <p:spPr>
          <a:xfrm>
            <a:off x="5935912" y="838899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Y-axis</a:t>
            </a: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06600E9-8124-2A2F-7E7B-EEA1DF6C13C4}"/>
              </a:ext>
            </a:extLst>
          </p:cNvPr>
          <p:cNvSpPr/>
          <p:nvPr/>
        </p:nvSpPr>
        <p:spPr>
          <a:xfrm rot="5028370">
            <a:off x="4721895" y="-462924"/>
            <a:ext cx="2996581" cy="3342309"/>
          </a:xfrm>
          <a:prstGeom prst="arc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0682B88-C1F5-82F5-EFE9-A0475CA834DB}"/>
              </a:ext>
            </a:extLst>
          </p:cNvPr>
          <p:cNvSpPr txBox="1"/>
          <p:nvPr/>
        </p:nvSpPr>
        <p:spPr>
          <a:xfrm>
            <a:off x="6915948" y="1452984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func</a:t>
            </a:r>
            <a:r>
              <a:rPr lang="en-US" dirty="0"/>
              <a:t>(x)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D5B2AD-654D-A41C-1849-5ED79FCB3676}"/>
              </a:ext>
            </a:extLst>
          </p:cNvPr>
          <p:cNvCxnSpPr>
            <a:stCxn id="17" idx="2"/>
          </p:cNvCxnSpPr>
          <p:nvPr/>
        </p:nvCxnSpPr>
        <p:spPr>
          <a:xfrm>
            <a:off x="6381839" y="2697775"/>
            <a:ext cx="52517" cy="20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2E13DF0-616E-15A3-1525-D9BBD8065004}"/>
              </a:ext>
            </a:extLst>
          </p:cNvPr>
          <p:cNvCxnSpPr>
            <a:cxnSpLocks/>
          </p:cNvCxnSpPr>
          <p:nvPr/>
        </p:nvCxnSpPr>
        <p:spPr>
          <a:xfrm flipV="1">
            <a:off x="6770846" y="2611075"/>
            <a:ext cx="0" cy="559161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FA668B3-6FE8-541A-7BBA-9DFA9C137F26}"/>
              </a:ext>
            </a:extLst>
          </p:cNvPr>
          <p:cNvCxnSpPr>
            <a:cxnSpLocks/>
          </p:cNvCxnSpPr>
          <p:nvPr/>
        </p:nvCxnSpPr>
        <p:spPr>
          <a:xfrm>
            <a:off x="5956339" y="2556504"/>
            <a:ext cx="878680" cy="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526A242-9DA4-5AFB-B57B-EC396BC0A8B3}"/>
              </a:ext>
            </a:extLst>
          </p:cNvPr>
          <p:cNvSpPr txBox="1"/>
          <p:nvPr/>
        </p:nvSpPr>
        <p:spPr>
          <a:xfrm>
            <a:off x="6835019" y="2665912"/>
            <a:ext cx="1468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f(x=x) = f(x)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83F44B-8FCF-22EE-1DAC-19E4F76F0147}"/>
              </a:ext>
            </a:extLst>
          </p:cNvPr>
          <p:cNvCxnSpPr>
            <a:cxnSpLocks/>
          </p:cNvCxnSpPr>
          <p:nvPr/>
        </p:nvCxnSpPr>
        <p:spPr>
          <a:xfrm flipH="1" flipV="1">
            <a:off x="7913561" y="994923"/>
            <a:ext cx="4194" cy="219002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1FF8EDA-0D96-A575-A3DD-AE6C28D46C2F}"/>
              </a:ext>
            </a:extLst>
          </p:cNvPr>
          <p:cNvCxnSpPr>
            <a:cxnSpLocks/>
            <a:stCxn id="15" idx="1"/>
            <a:endCxn id="17" idx="0"/>
          </p:cNvCxnSpPr>
          <p:nvPr/>
        </p:nvCxnSpPr>
        <p:spPr>
          <a:xfrm>
            <a:off x="5935912" y="1023565"/>
            <a:ext cx="1945673" cy="436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B05C2C7-0FA5-9339-49E5-8C97CA6B74B4}"/>
              </a:ext>
            </a:extLst>
          </p:cNvPr>
          <p:cNvSpPr txBox="1"/>
          <p:nvPr/>
        </p:nvSpPr>
        <p:spPr>
          <a:xfrm>
            <a:off x="7959349" y="1756406"/>
            <a:ext cx="18341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f(x=</a:t>
            </a:r>
            <a:r>
              <a:rPr lang="en-US" sz="1600" dirty="0" err="1">
                <a:solidFill>
                  <a:srgbClr val="C00000"/>
                </a:solidFill>
              </a:rPr>
              <a:t>x+h</a:t>
            </a:r>
            <a:r>
              <a:rPr lang="en-US" sz="1600" dirty="0">
                <a:solidFill>
                  <a:srgbClr val="C00000"/>
                </a:solidFill>
              </a:rPr>
              <a:t>) = f(</a:t>
            </a:r>
            <a:r>
              <a:rPr lang="en-US" sz="1600" dirty="0" err="1">
                <a:solidFill>
                  <a:srgbClr val="C00000"/>
                </a:solidFill>
              </a:rPr>
              <a:t>x+h</a:t>
            </a:r>
            <a:r>
              <a:rPr lang="en-US" sz="1600" dirty="0">
                <a:solidFill>
                  <a:srgbClr val="C00000"/>
                </a:solidFill>
              </a:rPr>
              <a:t>)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7BF99A5-5975-68E3-C987-1A788BFC6636}"/>
              </a:ext>
            </a:extLst>
          </p:cNvPr>
          <p:cNvCxnSpPr>
            <a:cxnSpLocks/>
          </p:cNvCxnSpPr>
          <p:nvPr/>
        </p:nvCxnSpPr>
        <p:spPr>
          <a:xfrm>
            <a:off x="6770846" y="3884319"/>
            <a:ext cx="1142715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158EB35-467C-E2D5-0D26-2793DB93592D}"/>
              </a:ext>
            </a:extLst>
          </p:cNvPr>
          <p:cNvSpPr txBox="1"/>
          <p:nvPr/>
        </p:nvSpPr>
        <p:spPr>
          <a:xfrm>
            <a:off x="7182149" y="39810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h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EE3B761-E4CF-9306-35B2-E8ADC50F08BC}"/>
              </a:ext>
            </a:extLst>
          </p:cNvPr>
          <p:cNvCxnSpPr>
            <a:cxnSpLocks/>
          </p:cNvCxnSpPr>
          <p:nvPr/>
        </p:nvCxnSpPr>
        <p:spPr>
          <a:xfrm>
            <a:off x="9672661" y="985945"/>
            <a:ext cx="20032" cy="172311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2926D47-6100-DA8C-A833-BC1B877300DE}"/>
              </a:ext>
            </a:extLst>
          </p:cNvPr>
          <p:cNvSpPr txBox="1"/>
          <p:nvPr/>
        </p:nvSpPr>
        <p:spPr>
          <a:xfrm>
            <a:off x="9781563" y="175640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f(</a:t>
            </a:r>
            <a:r>
              <a:rPr lang="en-US" dirty="0" err="1">
                <a:solidFill>
                  <a:srgbClr val="00B050"/>
                </a:solidFill>
              </a:rPr>
              <a:t>x+h</a:t>
            </a:r>
            <a:r>
              <a:rPr lang="en-US" dirty="0">
                <a:solidFill>
                  <a:srgbClr val="00B050"/>
                </a:solidFill>
              </a:rPr>
              <a:t>)-f(x)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932D857-E437-3DB4-9F03-ED9028296E07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7881585" y="1023565"/>
            <a:ext cx="1801092" cy="4360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569027F-1B0F-8F1C-1A61-564AF27ED842}"/>
              </a:ext>
            </a:extLst>
          </p:cNvPr>
          <p:cNvCxnSpPr>
            <a:cxnSpLocks/>
            <a:endCxn id="17" idx="2"/>
          </p:cNvCxnSpPr>
          <p:nvPr/>
        </p:nvCxnSpPr>
        <p:spPr>
          <a:xfrm flipH="1">
            <a:off x="6381839" y="2680513"/>
            <a:ext cx="3310854" cy="17262"/>
          </a:xfrm>
          <a:prstGeom prst="line">
            <a:avLst/>
          </a:prstGeom>
          <a:ln w="19050" cap="flat" cmpd="sng" algn="ctr">
            <a:solidFill>
              <a:srgbClr val="00B05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6DA3EA-111B-8AF2-CFCC-B77C59647C03}"/>
              </a:ext>
            </a:extLst>
          </p:cNvPr>
          <p:cNvSpPr txBox="1"/>
          <p:nvPr/>
        </p:nvSpPr>
        <p:spPr>
          <a:xfrm>
            <a:off x="7569355" y="4907559"/>
            <a:ext cx="4075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SLOPE|GRADIENT = (f(</a:t>
            </a:r>
            <a:r>
              <a:rPr lang="en-US" dirty="0" err="1">
                <a:solidFill>
                  <a:srgbClr val="00B0F0"/>
                </a:solidFill>
              </a:rPr>
              <a:t>x+h</a:t>
            </a:r>
            <a:r>
              <a:rPr lang="en-US" dirty="0">
                <a:solidFill>
                  <a:srgbClr val="00B0F0"/>
                </a:solidFill>
              </a:rPr>
              <a:t>)-f(x)) / h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5044D8-1CAE-6DD5-8A7F-D74DF284C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076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F9DF2-B42D-3E8B-D79B-EC9AAA08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E7BC397-27AD-EE21-4D42-009B5E3BD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848" y="2121408"/>
            <a:ext cx="10058400" cy="2005975"/>
          </a:xfrm>
        </p:spPr>
        <p:txBody>
          <a:bodyPr/>
          <a:lstStyle/>
          <a:p>
            <a:r>
              <a:rPr lang="en-US" dirty="0"/>
              <a:t>If we changed the function with some ‘h’, how will the output change</a:t>
            </a: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BB6EB139-7663-8A4F-4AA0-3BF35E7377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4088890" y="3037766"/>
            <a:ext cx="3784612" cy="150067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6C5F46-BBCE-D0D9-138D-3D5D39AF5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14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8C26-0F49-A9F4-9B49-CBE3488B0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5228904"/>
            <a:ext cx="3446477" cy="5122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solidFill>
                  <a:srgbClr val="C00000"/>
                </a:solidFill>
              </a:rPr>
              <a:t>df</a:t>
            </a:r>
            <a:r>
              <a:rPr lang="en-US" sz="2800" dirty="0">
                <a:solidFill>
                  <a:srgbClr val="C00000"/>
                </a:solidFill>
              </a:rPr>
              <a:t>/dx </a:t>
            </a:r>
            <a:r>
              <a:rPr lang="en-US" sz="2800" dirty="0"/>
              <a:t>= 2*h / h = 2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95D54EB-6794-4A71-3548-0F120E6D93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6924368" y="915350"/>
            <a:ext cx="3784612" cy="15006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D2FBC5-C1E4-38F4-2BD6-810E35CE3CB0}"/>
              </a:ext>
            </a:extLst>
          </p:cNvPr>
          <p:cNvSpPr txBox="1"/>
          <p:nvPr/>
        </p:nvSpPr>
        <p:spPr>
          <a:xfrm>
            <a:off x="1216404" y="503339"/>
            <a:ext cx="51760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f(x) = 2 * x + 4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615B3C-4D43-AA33-D102-466F1D44EF34}"/>
              </a:ext>
            </a:extLst>
          </p:cNvPr>
          <p:cNvSpPr txBox="1"/>
          <p:nvPr/>
        </p:nvSpPr>
        <p:spPr>
          <a:xfrm>
            <a:off x="5097709" y="5217952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Differentiating f with respect to 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BC37BA-CA29-AB9E-A3B0-CDF6E285F010}"/>
              </a:ext>
            </a:extLst>
          </p:cNvPr>
          <p:cNvSpPr txBox="1"/>
          <p:nvPr/>
        </p:nvSpPr>
        <p:spPr>
          <a:xfrm>
            <a:off x="1057012" y="2214694"/>
            <a:ext cx="37247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f(</a:t>
            </a:r>
            <a:r>
              <a:rPr lang="en-US" sz="2800" dirty="0" err="1"/>
              <a:t>x+h</a:t>
            </a:r>
            <a:r>
              <a:rPr lang="en-US" sz="2800" dirty="0"/>
              <a:t>) = 2 * (</a:t>
            </a:r>
            <a:r>
              <a:rPr lang="en-US" sz="2800" dirty="0" err="1"/>
              <a:t>x+h</a:t>
            </a:r>
            <a:r>
              <a:rPr lang="en-US" sz="2800" dirty="0"/>
              <a:t>) + 4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837EE4-0CC6-F78B-0A68-F52F04D140E0}"/>
              </a:ext>
            </a:extLst>
          </p:cNvPr>
          <p:cNvSpPr txBox="1"/>
          <p:nvPr/>
        </p:nvSpPr>
        <p:spPr>
          <a:xfrm>
            <a:off x="1066800" y="3002719"/>
            <a:ext cx="37247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(f(</a:t>
            </a:r>
            <a:r>
              <a:rPr lang="en-US" sz="2800" dirty="0" err="1"/>
              <a:t>x+h</a:t>
            </a:r>
            <a:r>
              <a:rPr lang="en-US" sz="2800" dirty="0"/>
              <a:t>) – f(x)) / h</a:t>
            </a:r>
            <a:endParaRPr lang="en-US" sz="4000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6EC6C0-44BF-5CA5-43A2-385943FBE0C6}"/>
              </a:ext>
            </a:extLst>
          </p:cNvPr>
          <p:cNvSpPr txBox="1"/>
          <p:nvPr/>
        </p:nvSpPr>
        <p:spPr>
          <a:xfrm>
            <a:off x="956346" y="3966983"/>
            <a:ext cx="4840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(2*(</a:t>
            </a:r>
            <a:r>
              <a:rPr lang="en-US" sz="2800" dirty="0" err="1"/>
              <a:t>x+h</a:t>
            </a:r>
            <a:r>
              <a:rPr lang="en-US" sz="2800" dirty="0"/>
              <a:t>) + 4 – (2*x+4)) / 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7BE4B-A43B-3FFC-AA40-6FBC27B4F19A}"/>
              </a:ext>
            </a:extLst>
          </p:cNvPr>
          <p:cNvSpPr txBox="1"/>
          <p:nvPr/>
        </p:nvSpPr>
        <p:spPr>
          <a:xfrm>
            <a:off x="956346" y="4597943"/>
            <a:ext cx="4731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(</a:t>
            </a:r>
            <a:r>
              <a:rPr lang="en-US" sz="2800" strike="sngStrike" dirty="0"/>
              <a:t>2*x</a:t>
            </a:r>
            <a:r>
              <a:rPr lang="en-US" sz="2800" dirty="0"/>
              <a:t> + 2*h + </a:t>
            </a:r>
            <a:r>
              <a:rPr lang="en-US" sz="2800" strike="sngStrike" dirty="0"/>
              <a:t>4</a:t>
            </a:r>
            <a:r>
              <a:rPr lang="en-US" sz="2800" dirty="0"/>
              <a:t> – </a:t>
            </a:r>
            <a:r>
              <a:rPr lang="en-US" sz="2800" strike="sngStrike" dirty="0"/>
              <a:t>2*x</a:t>
            </a:r>
            <a:r>
              <a:rPr lang="en-US" sz="2800" dirty="0"/>
              <a:t> – </a:t>
            </a:r>
            <a:r>
              <a:rPr lang="en-US" sz="2800" strike="sngStrike" dirty="0"/>
              <a:t>4</a:t>
            </a:r>
            <a:r>
              <a:rPr lang="en-US" sz="2800" dirty="0"/>
              <a:t>) / h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D0949DB-77ED-8296-F293-BB46A5788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46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8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E31D8-BB8F-E833-E5F3-13166737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343B9-0741-BC58-CEA6-72CB4517F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416577"/>
            <a:ext cx="10058400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f(</a:t>
            </a:r>
            <a:r>
              <a:rPr lang="en-US" sz="2800" dirty="0" err="1"/>
              <a:t>a+h</a:t>
            </a:r>
            <a:r>
              <a:rPr lang="en-US" sz="2800" dirty="0"/>
              <a:t>, b, c) = (</a:t>
            </a:r>
            <a:r>
              <a:rPr lang="en-US" sz="2800" dirty="0" err="1"/>
              <a:t>a+h</a:t>
            </a:r>
            <a:r>
              <a:rPr lang="en-US" sz="2800" dirty="0"/>
              <a:t>) * b + c</a:t>
            </a:r>
          </a:p>
          <a:p>
            <a:pPr marL="0" indent="0">
              <a:buNone/>
            </a:pPr>
            <a:r>
              <a:rPr lang="en-US" sz="2800" dirty="0"/>
              <a:t> </a:t>
            </a:r>
          </a:p>
          <a:p>
            <a:pPr marL="0" indent="0">
              <a:buNone/>
            </a:pPr>
            <a:r>
              <a:rPr lang="en-US" sz="2800" dirty="0"/>
              <a:t>(f(</a:t>
            </a:r>
            <a:r>
              <a:rPr lang="en-US" sz="2800" dirty="0" err="1"/>
              <a:t>a+h</a:t>
            </a:r>
            <a:r>
              <a:rPr lang="en-US" sz="2800" dirty="0"/>
              <a:t>, b, c) – f(a, b, c)) / h</a:t>
            </a:r>
          </a:p>
          <a:p>
            <a:pPr marL="0" indent="0">
              <a:buNone/>
            </a:pPr>
            <a:r>
              <a:rPr lang="en-US" sz="2800" dirty="0"/>
              <a:t>((</a:t>
            </a:r>
            <a:r>
              <a:rPr lang="en-US" sz="2800" dirty="0" err="1"/>
              <a:t>a+h</a:t>
            </a:r>
            <a:r>
              <a:rPr lang="en-US" sz="2800" dirty="0"/>
              <a:t>) * b + c – (a*b + c)) / h</a:t>
            </a:r>
          </a:p>
          <a:p>
            <a:pPr marL="0" indent="0">
              <a:buNone/>
            </a:pPr>
            <a:r>
              <a:rPr lang="en-US" sz="2800" dirty="0"/>
              <a:t>(</a:t>
            </a:r>
            <a:r>
              <a:rPr lang="en-US" sz="2800" strike="sngStrike" dirty="0"/>
              <a:t>a*b</a:t>
            </a:r>
            <a:r>
              <a:rPr lang="en-US" sz="2800" dirty="0"/>
              <a:t> + h*b + </a:t>
            </a:r>
            <a:r>
              <a:rPr lang="en-US" sz="2800" strike="sngStrike" dirty="0"/>
              <a:t>c</a:t>
            </a:r>
            <a:r>
              <a:rPr lang="en-US" sz="2800" dirty="0"/>
              <a:t> – </a:t>
            </a:r>
            <a:r>
              <a:rPr lang="en-US" sz="2800" strike="sngStrike" dirty="0"/>
              <a:t>a*b</a:t>
            </a:r>
            <a:r>
              <a:rPr lang="en-US" sz="2800" dirty="0"/>
              <a:t> – </a:t>
            </a:r>
            <a:r>
              <a:rPr lang="en-US" sz="2800" strike="sngStrike" dirty="0"/>
              <a:t>c</a:t>
            </a:r>
            <a:r>
              <a:rPr lang="en-US" sz="2800" dirty="0"/>
              <a:t>) / h</a:t>
            </a:r>
          </a:p>
          <a:p>
            <a:pPr marL="0" indent="0">
              <a:buNone/>
            </a:pPr>
            <a:r>
              <a:rPr lang="en-US" sz="2800" dirty="0" err="1">
                <a:solidFill>
                  <a:srgbClr val="C00000"/>
                </a:solidFill>
              </a:rPr>
              <a:t>df</a:t>
            </a:r>
            <a:r>
              <a:rPr lang="en-US" sz="2800" dirty="0">
                <a:solidFill>
                  <a:srgbClr val="C00000"/>
                </a:solidFill>
              </a:rPr>
              <a:t>/da</a:t>
            </a:r>
            <a:r>
              <a:rPr lang="en-US" sz="2800" dirty="0"/>
              <a:t> = h*b / h = b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63EEAB43-7C32-6BDB-08FB-CE7F677CEF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53"/>
          <a:stretch>
            <a:fillRect/>
          </a:stretch>
        </p:blipFill>
        <p:spPr>
          <a:xfrm>
            <a:off x="6924368" y="915350"/>
            <a:ext cx="3784612" cy="15006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A7C5BF-00E5-0937-6DC4-7878FE8B8361}"/>
              </a:ext>
            </a:extLst>
          </p:cNvPr>
          <p:cNvSpPr txBox="1"/>
          <p:nvPr/>
        </p:nvSpPr>
        <p:spPr>
          <a:xfrm>
            <a:off x="1216404" y="503339"/>
            <a:ext cx="51760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f(a, b, c) = a * b + c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3DD594-7ADA-E5A0-3F7F-FDB5FEB70227}"/>
              </a:ext>
            </a:extLst>
          </p:cNvPr>
          <p:cNvSpPr txBox="1"/>
          <p:nvPr/>
        </p:nvSpPr>
        <p:spPr>
          <a:xfrm>
            <a:off x="5097709" y="5217952"/>
            <a:ext cx="5682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Differentiating f with respect to a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22D8E-1655-1F02-B660-7919BEF6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286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A107D-95A4-C6FC-7077-9F7ACF64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2421" y="2422489"/>
            <a:ext cx="10058400" cy="1609344"/>
          </a:xfrm>
        </p:spPr>
        <p:txBody>
          <a:bodyPr/>
          <a:lstStyle/>
          <a:p>
            <a:r>
              <a:rPr lang="en-US" dirty="0"/>
              <a:t>NEXT…</a:t>
            </a:r>
            <a:r>
              <a:rPr lang="en-US" b="1" cap="none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Backpropagation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C7F3A0-AE2E-849F-AD0F-C520F431F468}"/>
              </a:ext>
            </a:extLst>
          </p:cNvPr>
          <p:cNvSpPr txBox="1"/>
          <p:nvPr/>
        </p:nvSpPr>
        <p:spPr>
          <a:xfrm>
            <a:off x="4748168" y="3982417"/>
            <a:ext cx="1895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/>
              <a:t>😨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4DBB73-1D55-D47C-A5E6-650B2EE88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r-EG"/>
              <a:t>م. يوسف مجدي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2355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3006</TotalTime>
  <Words>545</Words>
  <Application>Microsoft Office PowerPoint</Application>
  <PresentationFormat>Widescreen</PresentationFormat>
  <Paragraphs>112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Rockwell</vt:lpstr>
      <vt:lpstr>Rockwell Condensed</vt:lpstr>
      <vt:lpstr>Wingdings</vt:lpstr>
      <vt:lpstr>Wood Type</vt:lpstr>
      <vt:lpstr>Derivative | slope | gradient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Gradient</vt:lpstr>
      <vt:lpstr>PowerPoint Presentation</vt:lpstr>
      <vt:lpstr>PowerPoint Presentation</vt:lpstr>
      <vt:lpstr>NEXT…Backpropagation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Magdy</dc:creator>
  <cp:lastModifiedBy>Youssef Magdy</cp:lastModifiedBy>
  <cp:revision>10</cp:revision>
  <dcterms:created xsi:type="dcterms:W3CDTF">2026-02-23T12:43:32Z</dcterms:created>
  <dcterms:modified xsi:type="dcterms:W3CDTF">2026-02-26T22:47:58Z</dcterms:modified>
</cp:coreProperties>
</file>
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65" r:id="rId3"/>
    <p:sldId id="269" r:id="rId4"/>
    <p:sldId id="271" r:id="rId5"/>
    <p:sldId id="272" r:id="rId6"/>
    <p:sldId id="274" r:id="rId7"/>
    <p:sldId id="273" r:id="rId8"/>
    <p:sldId id="277" r:id="rId9"/>
    <p:sldId id="278" r:id="rId10"/>
    <p:sldId id="279" r:id="rId11"/>
    <p:sldId id="280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1" autoAdjust="0"/>
    <p:restoredTop sz="94660"/>
  </p:normalViewPr>
  <p:slideViewPr>
    <p:cSldViewPr snapToGrid="0">
      <p:cViewPr varScale="1">
        <p:scale>
          <a:sx n="76" d="100"/>
          <a:sy n="76" d="100"/>
        </p:scale>
        <p:origin x="1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2/24/2026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E100C-EB44-5AC0-0DEC-B0D2B5C78F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Backpropagation</a:t>
            </a:r>
          </a:p>
        </p:txBody>
      </p:sp>
    </p:spTree>
    <p:extLst>
      <p:ext uri="{BB962C8B-B14F-4D97-AF65-F5344CB8AC3E}">
        <p14:creationId xmlns:p14="http://schemas.microsoft.com/office/powerpoint/2010/main" val="2254310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E31D8-BB8F-E833-E5F3-131667379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343B9-0741-BC58-CEA6-72CB4517F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416577"/>
            <a:ext cx="10058400" cy="4050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f(</a:t>
            </a:r>
            <a:r>
              <a:rPr lang="en-US" sz="2800" dirty="0" err="1"/>
              <a:t>a+h</a:t>
            </a:r>
            <a:r>
              <a:rPr lang="en-US" sz="2800" dirty="0"/>
              <a:t>, b, c) = (</a:t>
            </a:r>
            <a:r>
              <a:rPr lang="en-US" sz="2800" dirty="0" err="1"/>
              <a:t>a+h</a:t>
            </a:r>
            <a:r>
              <a:rPr lang="en-US" sz="2800" dirty="0"/>
              <a:t>) * b + c</a:t>
            </a:r>
          </a:p>
          <a:p>
            <a:pPr marL="0" indent="0">
              <a:buNone/>
            </a:pPr>
            <a:r>
              <a:rPr lang="en-US" sz="2800" dirty="0"/>
              <a:t> </a:t>
            </a:r>
          </a:p>
          <a:p>
            <a:pPr marL="0" indent="0">
              <a:buNone/>
            </a:pPr>
            <a:r>
              <a:rPr lang="en-US" sz="2800" dirty="0"/>
              <a:t>(f(</a:t>
            </a:r>
            <a:r>
              <a:rPr lang="en-US" sz="2800" dirty="0" err="1"/>
              <a:t>a+h</a:t>
            </a:r>
            <a:r>
              <a:rPr lang="en-US" sz="2800" dirty="0"/>
              <a:t>, b, c) – f(a, b, c)) / h</a:t>
            </a:r>
          </a:p>
          <a:p>
            <a:pPr marL="0" indent="0">
              <a:buNone/>
            </a:pPr>
            <a:r>
              <a:rPr lang="en-US" sz="2800" dirty="0"/>
              <a:t>((</a:t>
            </a:r>
            <a:r>
              <a:rPr lang="en-US" sz="2800" dirty="0" err="1"/>
              <a:t>a+h</a:t>
            </a:r>
            <a:r>
              <a:rPr lang="en-US" sz="2800" dirty="0"/>
              <a:t>) * b + c – (a*b + c)) / h</a:t>
            </a:r>
          </a:p>
          <a:p>
            <a:pPr marL="0" indent="0">
              <a:buNone/>
            </a:pPr>
            <a:r>
              <a:rPr lang="en-US" sz="2800" dirty="0"/>
              <a:t>(</a:t>
            </a:r>
            <a:r>
              <a:rPr lang="en-US" sz="2800" strike="sngStrike" dirty="0"/>
              <a:t>a*b</a:t>
            </a:r>
            <a:r>
              <a:rPr lang="en-US" sz="2800" dirty="0"/>
              <a:t> + h*b + </a:t>
            </a:r>
            <a:r>
              <a:rPr lang="en-US" sz="2800" strike="sngStrike" dirty="0"/>
              <a:t>c</a:t>
            </a:r>
            <a:r>
              <a:rPr lang="en-US" sz="2800" dirty="0"/>
              <a:t> – </a:t>
            </a:r>
            <a:r>
              <a:rPr lang="en-US" sz="2800" strike="sngStrike" dirty="0"/>
              <a:t>a*b</a:t>
            </a:r>
            <a:r>
              <a:rPr lang="en-US" sz="2800" dirty="0"/>
              <a:t> – </a:t>
            </a:r>
            <a:r>
              <a:rPr lang="en-US" sz="2800" strike="sngStrike" dirty="0"/>
              <a:t>c</a:t>
            </a:r>
            <a:r>
              <a:rPr lang="en-US" sz="2800" dirty="0"/>
              <a:t>) / h</a:t>
            </a:r>
          </a:p>
          <a:p>
            <a:pPr marL="0" indent="0">
              <a:buNone/>
            </a:pPr>
            <a:r>
              <a:rPr lang="en-US" sz="2800" dirty="0" err="1">
                <a:solidFill>
                  <a:srgbClr val="C00000"/>
                </a:solidFill>
              </a:rPr>
              <a:t>df</a:t>
            </a:r>
            <a:r>
              <a:rPr lang="en-US" sz="2800" dirty="0">
                <a:solidFill>
                  <a:srgbClr val="C00000"/>
                </a:solidFill>
              </a:rPr>
              <a:t>/da</a:t>
            </a:r>
            <a:r>
              <a:rPr lang="en-US" sz="2800" dirty="0"/>
              <a:t> = h*b / h = b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63EEAB43-7C32-6BDB-08FB-CE7F677CEF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53"/>
          <a:stretch>
            <a:fillRect/>
          </a:stretch>
        </p:blipFill>
        <p:spPr>
          <a:xfrm>
            <a:off x="6924368" y="915350"/>
            <a:ext cx="3784612" cy="15006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A7C5BF-00E5-0937-6DC4-7878FE8B8361}"/>
              </a:ext>
            </a:extLst>
          </p:cNvPr>
          <p:cNvSpPr txBox="1"/>
          <p:nvPr/>
        </p:nvSpPr>
        <p:spPr>
          <a:xfrm>
            <a:off x="1216404" y="503339"/>
            <a:ext cx="51760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f(a, b, c) = a * b + c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3DD594-7ADA-E5A0-3F7F-FDB5FEB70227}"/>
              </a:ext>
            </a:extLst>
          </p:cNvPr>
          <p:cNvSpPr txBox="1"/>
          <p:nvPr/>
        </p:nvSpPr>
        <p:spPr>
          <a:xfrm>
            <a:off x="5097709" y="5184396"/>
            <a:ext cx="5682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Differentiating f with respect to a</a:t>
            </a:r>
          </a:p>
        </p:txBody>
      </p:sp>
    </p:spTree>
    <p:extLst>
      <p:ext uri="{BB962C8B-B14F-4D97-AF65-F5344CB8AC3E}">
        <p14:creationId xmlns:p14="http://schemas.microsoft.com/office/powerpoint/2010/main" val="591286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A9547-F823-5D4F-8A5E-CB58DBA99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7D3CE-A8AF-C71D-C960-5B9DB83B6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584" y="2625754"/>
            <a:ext cx="3277300" cy="53388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800" dirty="0"/>
              <a:t>z = (w2 - 2*w1)*w3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7D12C85-AB53-03DD-73CD-F3CFB35A2FAB}"/>
              </a:ext>
            </a:extLst>
          </p:cNvPr>
          <p:cNvSpPr/>
          <p:nvPr/>
        </p:nvSpPr>
        <p:spPr>
          <a:xfrm>
            <a:off x="4874007" y="914399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440EBD4-CB2A-19C0-AA2F-FF3B4755F3F7}"/>
              </a:ext>
            </a:extLst>
          </p:cNvPr>
          <p:cNvSpPr/>
          <p:nvPr/>
        </p:nvSpPr>
        <p:spPr>
          <a:xfrm>
            <a:off x="6242811" y="914399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A03E6C5-6F24-BED0-75D4-34664B31749C}"/>
              </a:ext>
            </a:extLst>
          </p:cNvPr>
          <p:cNvSpPr/>
          <p:nvPr/>
        </p:nvSpPr>
        <p:spPr>
          <a:xfrm>
            <a:off x="7611615" y="914399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C139DC7-2674-2128-3BEA-74DFE6C5E4CF}"/>
              </a:ext>
            </a:extLst>
          </p:cNvPr>
          <p:cNvCxnSpPr>
            <a:cxnSpLocks/>
            <a:stCxn id="2" idx="6"/>
            <a:endCxn id="5" idx="2"/>
          </p:cNvCxnSpPr>
          <p:nvPr/>
        </p:nvCxnSpPr>
        <p:spPr>
          <a:xfrm>
            <a:off x="5654183" y="1214306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F5800FA-F772-18FD-3524-E64371EE1FEA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7022987" y="1214306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035C4A2-3773-5C4E-45AC-D3F8043FB8A4}"/>
              </a:ext>
            </a:extLst>
          </p:cNvPr>
          <p:cNvSpPr txBox="1"/>
          <p:nvPr/>
        </p:nvSpPr>
        <p:spPr>
          <a:xfrm>
            <a:off x="9127222" y="729733"/>
            <a:ext cx="1702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Target = 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5327F9-B018-BD69-3BC3-41CAA2E538C6}"/>
              </a:ext>
            </a:extLst>
          </p:cNvPr>
          <p:cNvSpPr txBox="1"/>
          <p:nvPr/>
        </p:nvSpPr>
        <p:spPr>
          <a:xfrm>
            <a:off x="9155186" y="1400212"/>
            <a:ext cx="1652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w1 = 3</a:t>
            </a:r>
            <a:b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w2 = 4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w3 = 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6731BE-368A-2334-B8C7-95DDEF0D421E}"/>
              </a:ext>
            </a:extLst>
          </p:cNvPr>
          <p:cNvSpPr txBox="1"/>
          <p:nvPr/>
        </p:nvSpPr>
        <p:spPr>
          <a:xfrm>
            <a:off x="707472" y="4340820"/>
            <a:ext cx="5307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Predicted = Z = (4 - 2*3)*5 = -10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3D4EA5-7C34-C093-EA36-F479852E92E8}"/>
              </a:ext>
            </a:extLst>
          </p:cNvPr>
          <p:cNvSpPr txBox="1"/>
          <p:nvPr/>
        </p:nvSpPr>
        <p:spPr>
          <a:xfrm>
            <a:off x="6354661" y="4433153"/>
            <a:ext cx="3317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Loss = 10 – (-10) = 20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FD8151-444C-672E-E1B3-0A2200AD97E6}"/>
              </a:ext>
            </a:extLst>
          </p:cNvPr>
          <p:cNvSpPr txBox="1"/>
          <p:nvPr/>
        </p:nvSpPr>
        <p:spPr>
          <a:xfrm>
            <a:off x="774583" y="5712903"/>
            <a:ext cx="69936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Backpropagation STARTS…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6F8B7E-84F6-7167-9D98-A353B2566274}"/>
              </a:ext>
            </a:extLst>
          </p:cNvPr>
          <p:cNvSpPr txBox="1"/>
          <p:nvPr/>
        </p:nvSpPr>
        <p:spPr>
          <a:xfrm>
            <a:off x="1216404" y="503339"/>
            <a:ext cx="37247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g = -2*w1</a:t>
            </a:r>
          </a:p>
          <a:p>
            <a:r>
              <a:rPr lang="en-US" sz="3600" dirty="0">
                <a:solidFill>
                  <a:srgbClr val="C00000"/>
                </a:solidFill>
              </a:rPr>
              <a:t>y = w2 + g</a:t>
            </a:r>
            <a:endParaRPr lang="en-US" dirty="0"/>
          </a:p>
          <a:p>
            <a:r>
              <a:rPr lang="en-US" sz="3600" dirty="0">
                <a:solidFill>
                  <a:srgbClr val="C00000"/>
                </a:solidFill>
              </a:rPr>
              <a:t>z = y*w3</a:t>
            </a:r>
          </a:p>
          <a:p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11179247-FE86-3B18-53FF-2DCA75D28910}"/>
              </a:ext>
            </a:extLst>
          </p:cNvPr>
          <p:cNvSpPr/>
          <p:nvPr/>
        </p:nvSpPr>
        <p:spPr>
          <a:xfrm rot="16200000">
            <a:off x="2587198" y="2780779"/>
            <a:ext cx="209939" cy="829113"/>
          </a:xfrm>
          <a:prstGeom prst="leftBrace">
            <a:avLst>
              <a:gd name="adj1" fmla="val 8333"/>
              <a:gd name="adj2" fmla="val 5314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94FB46-2D28-0092-A306-92880D5AFDCC}"/>
              </a:ext>
            </a:extLst>
          </p:cNvPr>
          <p:cNvSpPr txBox="1"/>
          <p:nvPr/>
        </p:nvSpPr>
        <p:spPr>
          <a:xfrm>
            <a:off x="2218468" y="2164913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DA4B6E64-5999-BB88-96A1-17BE43F13CDB}"/>
              </a:ext>
            </a:extLst>
          </p:cNvPr>
          <p:cNvSpPr/>
          <p:nvPr/>
        </p:nvSpPr>
        <p:spPr>
          <a:xfrm rot="5400000">
            <a:off x="2265794" y="1782226"/>
            <a:ext cx="184419" cy="1595305"/>
          </a:xfrm>
          <a:prstGeom prst="leftBrace">
            <a:avLst>
              <a:gd name="adj1" fmla="val 8333"/>
              <a:gd name="adj2" fmla="val 5314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C22F5B-042D-47C4-A5FD-3A7F0279E028}"/>
              </a:ext>
            </a:extLst>
          </p:cNvPr>
          <p:cNvSpPr txBox="1"/>
          <p:nvPr/>
        </p:nvSpPr>
        <p:spPr>
          <a:xfrm>
            <a:off x="2580645" y="3213174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201882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8" grpId="0"/>
      <p:bldP spid="19" grpId="0"/>
      <p:bldP spid="20" grpId="0"/>
      <p:bldP spid="21" grpId="0"/>
      <p:bldP spid="22" grpId="0"/>
      <p:bldP spid="8" grpId="0" animBg="1"/>
      <p:bldP spid="10" grpId="0"/>
      <p:bldP spid="11" grpId="0" animBg="1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82622-2A90-174B-1B5F-C5187017C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40277-A703-4E1C-E0B7-23D91B05D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583" y="2207674"/>
            <a:ext cx="4236441" cy="5338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z = (w2 + -2*w1)*w3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6FBA7EE-6E58-DAFB-13E3-207CCBC6BF0F}"/>
              </a:ext>
            </a:extLst>
          </p:cNvPr>
          <p:cNvSpPr/>
          <p:nvPr/>
        </p:nvSpPr>
        <p:spPr>
          <a:xfrm>
            <a:off x="4189605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8C37672-6386-94AF-6778-2CC8F05CF82E}"/>
              </a:ext>
            </a:extLst>
          </p:cNvPr>
          <p:cNvSpPr/>
          <p:nvPr/>
        </p:nvSpPr>
        <p:spPr>
          <a:xfrm>
            <a:off x="5558409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6191D06-7B0B-44FC-0A4E-0A56ACF5D082}"/>
              </a:ext>
            </a:extLst>
          </p:cNvPr>
          <p:cNvSpPr/>
          <p:nvPr/>
        </p:nvSpPr>
        <p:spPr>
          <a:xfrm>
            <a:off x="6927213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AD94392-B88C-6179-F51E-629686B24151}"/>
              </a:ext>
            </a:extLst>
          </p:cNvPr>
          <p:cNvCxnSpPr>
            <a:cxnSpLocks/>
            <a:stCxn id="2" idx="6"/>
            <a:endCxn id="5" idx="2"/>
          </p:cNvCxnSpPr>
          <p:nvPr/>
        </p:nvCxnSpPr>
        <p:spPr>
          <a:xfrm>
            <a:off x="4969781" y="712108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62A7DDD-5944-BC52-E4E1-5B8BA3D6B4A0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6338585" y="712108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B48EBA9-151D-0D8E-4159-A3AA604CB84B}"/>
              </a:ext>
            </a:extLst>
          </p:cNvPr>
          <p:cNvSpPr txBox="1"/>
          <p:nvPr/>
        </p:nvSpPr>
        <p:spPr>
          <a:xfrm>
            <a:off x="9096464" y="2134869"/>
            <a:ext cx="1652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w1 = 3</a:t>
            </a:r>
            <a:b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w2 = 4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w3 = 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7606AC-D905-EEB8-AB82-183366B3C7ED}"/>
              </a:ext>
            </a:extLst>
          </p:cNvPr>
          <p:cNvSpPr txBox="1"/>
          <p:nvPr/>
        </p:nvSpPr>
        <p:spPr>
          <a:xfrm>
            <a:off x="774583" y="3250732"/>
            <a:ext cx="1702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</a:rPr>
              <a:t>GOAL!!!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0A8EF7-8EF1-D36D-E53A-5385A3586683}"/>
              </a:ext>
            </a:extLst>
          </p:cNvPr>
          <p:cNvSpPr txBox="1"/>
          <p:nvPr/>
        </p:nvSpPr>
        <p:spPr>
          <a:xfrm>
            <a:off x="1767285" y="3875302"/>
            <a:ext cx="170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 / dw1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96CEC3-6392-3B0C-14A9-29BA1CCF9E38}"/>
              </a:ext>
            </a:extLst>
          </p:cNvPr>
          <p:cNvSpPr txBox="1"/>
          <p:nvPr/>
        </p:nvSpPr>
        <p:spPr>
          <a:xfrm>
            <a:off x="3556933" y="3799801"/>
            <a:ext cx="5682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Differentiate z with respect to w1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E3EE68-0967-5B8B-60B1-A9F66F575449}"/>
              </a:ext>
            </a:extLst>
          </p:cNvPr>
          <p:cNvSpPr txBox="1"/>
          <p:nvPr/>
        </p:nvSpPr>
        <p:spPr>
          <a:xfrm>
            <a:off x="774583" y="5712903"/>
            <a:ext cx="69936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Chain Rule STARTS…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7EAFAC-992A-C6D9-F121-94B5DA4C5ECB}"/>
              </a:ext>
            </a:extLst>
          </p:cNvPr>
          <p:cNvSpPr txBox="1"/>
          <p:nvPr/>
        </p:nvSpPr>
        <p:spPr>
          <a:xfrm>
            <a:off x="1767285" y="4414111"/>
            <a:ext cx="170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 / dw2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A7E5FC-870C-298A-692A-AEDD224DAFDF}"/>
              </a:ext>
            </a:extLst>
          </p:cNvPr>
          <p:cNvSpPr txBox="1"/>
          <p:nvPr/>
        </p:nvSpPr>
        <p:spPr>
          <a:xfrm>
            <a:off x="3556933" y="4338610"/>
            <a:ext cx="5682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Differentiate z with respect to w2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00EA72-233C-5541-DA0B-D0CADF9A2F2C}"/>
              </a:ext>
            </a:extLst>
          </p:cNvPr>
          <p:cNvSpPr txBox="1"/>
          <p:nvPr/>
        </p:nvSpPr>
        <p:spPr>
          <a:xfrm>
            <a:off x="1755405" y="4937331"/>
            <a:ext cx="170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 / dw3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652099-9EA0-01EB-B4E5-DD778EBD403D}"/>
              </a:ext>
            </a:extLst>
          </p:cNvPr>
          <p:cNvSpPr txBox="1"/>
          <p:nvPr/>
        </p:nvSpPr>
        <p:spPr>
          <a:xfrm>
            <a:off x="3545053" y="4861830"/>
            <a:ext cx="5682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Differentiate z with respect to w3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188885-C613-28CB-93C9-32FE73C5F426}"/>
              </a:ext>
            </a:extLst>
          </p:cNvPr>
          <p:cNvSpPr txBox="1"/>
          <p:nvPr/>
        </p:nvSpPr>
        <p:spPr>
          <a:xfrm>
            <a:off x="9053821" y="356199"/>
            <a:ext cx="2708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Target = 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4DEE54-345C-983C-6393-5F1BE26F04AB}"/>
              </a:ext>
            </a:extLst>
          </p:cNvPr>
          <p:cNvSpPr txBox="1"/>
          <p:nvPr/>
        </p:nvSpPr>
        <p:spPr>
          <a:xfrm>
            <a:off x="9053821" y="904670"/>
            <a:ext cx="2622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Predicted = -10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5E90DA-79CF-EECA-47C7-339FE9C7AE3C}"/>
              </a:ext>
            </a:extLst>
          </p:cNvPr>
          <p:cNvSpPr txBox="1"/>
          <p:nvPr/>
        </p:nvSpPr>
        <p:spPr>
          <a:xfrm>
            <a:off x="9096464" y="1483513"/>
            <a:ext cx="2827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Loss = 20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FA65BAC-1E83-803C-048E-4EBADA10BC1F}"/>
              </a:ext>
            </a:extLst>
          </p:cNvPr>
          <p:cNvSpPr txBox="1"/>
          <p:nvPr/>
        </p:nvSpPr>
        <p:spPr>
          <a:xfrm>
            <a:off x="1216405" y="503339"/>
            <a:ext cx="27998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g = -2*w1</a:t>
            </a:r>
          </a:p>
          <a:p>
            <a:r>
              <a:rPr lang="en-US" sz="3600" dirty="0">
                <a:solidFill>
                  <a:srgbClr val="C00000"/>
                </a:solidFill>
              </a:rPr>
              <a:t>y = w2 + g</a:t>
            </a:r>
            <a:endParaRPr lang="en-US" dirty="0"/>
          </a:p>
          <a:p>
            <a:r>
              <a:rPr lang="en-US" sz="3600" dirty="0">
                <a:solidFill>
                  <a:srgbClr val="C00000"/>
                </a:solidFill>
              </a:rPr>
              <a:t>z = y*w3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461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0" grpId="0"/>
      <p:bldP spid="15" grpId="0"/>
      <p:bldP spid="16" grpId="0"/>
      <p:bldP spid="17" grpId="0"/>
      <p:bldP spid="22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1E0FB9A-FB16-F3F1-CA8E-219140CF8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667367"/>
            <a:ext cx="3517119" cy="3517119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6F706F1A-671D-AF4D-3180-5CB388C6D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676" y="2382410"/>
            <a:ext cx="3537345" cy="2087033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F51FAF2D-CE8F-D551-10B4-AC105CAFF6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2336" y="2256486"/>
            <a:ext cx="3517120" cy="23388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39616B-95B4-5129-1CE8-5FD9BE873B1F}"/>
              </a:ext>
            </a:extLst>
          </p:cNvPr>
          <p:cNvSpPr txBox="1"/>
          <p:nvPr/>
        </p:nvSpPr>
        <p:spPr>
          <a:xfrm>
            <a:off x="611131" y="243179"/>
            <a:ext cx="7667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Car is 4 times faster than bicycle, and bicycle is 2 times faster as a man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498337-BD57-0F43-0B66-220DF9B6D7F4}"/>
              </a:ext>
            </a:extLst>
          </p:cNvPr>
          <p:cNvSpPr txBox="1"/>
          <p:nvPr/>
        </p:nvSpPr>
        <p:spPr>
          <a:xfrm>
            <a:off x="845359" y="504272"/>
            <a:ext cx="5796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So, Car is 4*2 = 8 times faster than man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372FE300-39BA-043B-32CE-22181760A874}"/>
              </a:ext>
            </a:extLst>
          </p:cNvPr>
          <p:cNvSpPr/>
          <p:nvPr/>
        </p:nvSpPr>
        <p:spPr>
          <a:xfrm>
            <a:off x="419450" y="612511"/>
            <a:ext cx="335559" cy="2096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941FC4-2446-2B68-D235-9C91107DA542}"/>
              </a:ext>
            </a:extLst>
          </p:cNvPr>
          <p:cNvSpPr txBox="1"/>
          <p:nvPr/>
        </p:nvSpPr>
        <p:spPr>
          <a:xfrm>
            <a:off x="687898" y="822121"/>
            <a:ext cx="445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dCar</a:t>
            </a:r>
            <a:r>
              <a:rPr lang="en-US" dirty="0"/>
              <a:t>/</a:t>
            </a:r>
            <a:r>
              <a:rPr lang="en-US" dirty="0" err="1"/>
              <a:t>dBicycle</a:t>
            </a:r>
            <a:r>
              <a:rPr lang="en-US" dirty="0"/>
              <a:t>=4, </a:t>
            </a:r>
            <a:r>
              <a:rPr lang="en-US" dirty="0" err="1"/>
              <a:t>dBicycle</a:t>
            </a:r>
            <a:r>
              <a:rPr lang="en-US" dirty="0"/>
              <a:t>/</a:t>
            </a:r>
            <a:r>
              <a:rPr lang="en-US" dirty="0" err="1"/>
              <a:t>dMan</a:t>
            </a:r>
            <a:r>
              <a:rPr lang="en-US" dirty="0"/>
              <a:t>=2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B2C2B-7AAA-9D96-A4F9-1AFE1576ECB0}"/>
              </a:ext>
            </a:extLst>
          </p:cNvPr>
          <p:cNvSpPr txBox="1"/>
          <p:nvPr/>
        </p:nvSpPr>
        <p:spPr>
          <a:xfrm>
            <a:off x="792228" y="1113369"/>
            <a:ext cx="7667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So, </a:t>
            </a:r>
            <a:r>
              <a:rPr lang="en-US" dirty="0" err="1"/>
              <a:t>dCar</a:t>
            </a:r>
            <a:r>
              <a:rPr lang="en-US" dirty="0"/>
              <a:t>/</a:t>
            </a:r>
            <a:r>
              <a:rPr lang="en-US" dirty="0" err="1"/>
              <a:t>dMan</a:t>
            </a:r>
            <a:r>
              <a:rPr lang="en-US" dirty="0"/>
              <a:t> = </a:t>
            </a:r>
            <a:r>
              <a:rPr lang="en-US" dirty="0" err="1"/>
              <a:t>dCar</a:t>
            </a:r>
            <a:r>
              <a:rPr lang="en-US" dirty="0"/>
              <a:t>/</a:t>
            </a:r>
            <a:r>
              <a:rPr lang="en-US" dirty="0" err="1"/>
              <a:t>dBicycle</a:t>
            </a:r>
            <a:r>
              <a:rPr lang="en-US" dirty="0"/>
              <a:t> * </a:t>
            </a:r>
            <a:r>
              <a:rPr lang="en-US" dirty="0" err="1"/>
              <a:t>dBicycle</a:t>
            </a:r>
            <a:r>
              <a:rPr lang="en-US" dirty="0"/>
              <a:t>/</a:t>
            </a:r>
            <a:r>
              <a:rPr lang="en-US" dirty="0" err="1"/>
              <a:t>dMan</a:t>
            </a:r>
            <a:r>
              <a:rPr lang="en-US" dirty="0"/>
              <a:t> = 4*2 = 8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E1D00CB9-9339-B849-8EC5-43D32E121A51}"/>
              </a:ext>
            </a:extLst>
          </p:cNvPr>
          <p:cNvSpPr/>
          <p:nvPr/>
        </p:nvSpPr>
        <p:spPr>
          <a:xfrm>
            <a:off x="366320" y="1221608"/>
            <a:ext cx="335559" cy="2096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73AE83-0318-EB12-43A9-54D666EE17FC}"/>
              </a:ext>
            </a:extLst>
          </p:cNvPr>
          <p:cNvSpPr txBox="1"/>
          <p:nvPr/>
        </p:nvSpPr>
        <p:spPr>
          <a:xfrm>
            <a:off x="774583" y="5712903"/>
            <a:ext cx="69936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Chain Rule</a:t>
            </a:r>
          </a:p>
        </p:txBody>
      </p:sp>
    </p:spTree>
    <p:extLst>
      <p:ext uri="{BB962C8B-B14F-4D97-AF65-F5344CB8AC3E}">
        <p14:creationId xmlns:p14="http://schemas.microsoft.com/office/powerpoint/2010/main" val="2233923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 animBg="1"/>
      <p:bldP spid="16" grpId="0"/>
      <p:bldP spid="18" grpId="0"/>
      <p:bldP spid="19" grpId="0" animBg="1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E0242-5BFB-B352-9AB8-15982A7A2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47257C8-1DFF-FA66-AA87-DE56E4EF4819}"/>
              </a:ext>
            </a:extLst>
          </p:cNvPr>
          <p:cNvSpPr txBox="1"/>
          <p:nvPr/>
        </p:nvSpPr>
        <p:spPr>
          <a:xfrm>
            <a:off x="774583" y="3770582"/>
            <a:ext cx="7273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 / dw1 = </a:t>
            </a:r>
            <a:r>
              <a:rPr lang="en-US" sz="2800" dirty="0" err="1"/>
              <a:t>dz</a:t>
            </a:r>
            <a:r>
              <a:rPr lang="en-US" sz="2800" dirty="0"/>
              <a:t>/</a:t>
            </a:r>
            <a:r>
              <a:rPr lang="en-US" sz="2800" dirty="0" err="1"/>
              <a:t>dy</a:t>
            </a:r>
            <a:r>
              <a:rPr lang="en-US" sz="2800" dirty="0"/>
              <a:t> * </a:t>
            </a:r>
            <a:r>
              <a:rPr lang="en-US" sz="2800" dirty="0" err="1"/>
              <a:t>dy</a:t>
            </a:r>
            <a:r>
              <a:rPr lang="en-US" sz="2800" dirty="0"/>
              <a:t>/dg * dg/dw1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5F634C-801F-B7F5-E34E-7D35426D4238}"/>
              </a:ext>
            </a:extLst>
          </p:cNvPr>
          <p:cNvSpPr txBox="1"/>
          <p:nvPr/>
        </p:nvSpPr>
        <p:spPr>
          <a:xfrm>
            <a:off x="774583" y="4293802"/>
            <a:ext cx="4804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 / dw2 = </a:t>
            </a:r>
            <a:r>
              <a:rPr lang="en-US" sz="2800" dirty="0" err="1"/>
              <a:t>dz</a:t>
            </a:r>
            <a:r>
              <a:rPr lang="en-US" sz="2800" dirty="0"/>
              <a:t>/</a:t>
            </a:r>
            <a:r>
              <a:rPr lang="en-US" sz="2800" dirty="0" err="1"/>
              <a:t>dy</a:t>
            </a:r>
            <a:r>
              <a:rPr lang="en-US" sz="2800" dirty="0"/>
              <a:t> * </a:t>
            </a:r>
            <a:r>
              <a:rPr lang="en-US" sz="2800" dirty="0" err="1"/>
              <a:t>dy</a:t>
            </a:r>
            <a:r>
              <a:rPr lang="en-US" sz="2800" dirty="0"/>
              <a:t>/dw2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565C91-D69E-C909-CB2A-E72C76E174D9}"/>
              </a:ext>
            </a:extLst>
          </p:cNvPr>
          <p:cNvSpPr txBox="1"/>
          <p:nvPr/>
        </p:nvSpPr>
        <p:spPr>
          <a:xfrm>
            <a:off x="728449" y="4829329"/>
            <a:ext cx="7273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 / dw3 = y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C27D1D4A-FAE2-CB44-5986-DD5A0EBBD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583" y="2207674"/>
            <a:ext cx="4236441" cy="5338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z = (w2 + -2*w1)*w3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ECAF796-9244-6E70-7AB7-5770A7B7AF8E}"/>
              </a:ext>
            </a:extLst>
          </p:cNvPr>
          <p:cNvSpPr/>
          <p:nvPr/>
        </p:nvSpPr>
        <p:spPr>
          <a:xfrm>
            <a:off x="4189605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C1AB82B-74D0-34A7-FCC3-95B9D6E65E76}"/>
              </a:ext>
            </a:extLst>
          </p:cNvPr>
          <p:cNvSpPr/>
          <p:nvPr/>
        </p:nvSpPr>
        <p:spPr>
          <a:xfrm>
            <a:off x="5558409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1B50F80-379A-E430-406F-7A8D6E07A305}"/>
              </a:ext>
            </a:extLst>
          </p:cNvPr>
          <p:cNvSpPr/>
          <p:nvPr/>
        </p:nvSpPr>
        <p:spPr>
          <a:xfrm>
            <a:off x="6927213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BEABF02-F17F-CA49-2114-440997F3AFAF}"/>
              </a:ext>
            </a:extLst>
          </p:cNvPr>
          <p:cNvCxnSpPr>
            <a:cxnSpLocks/>
            <a:stCxn id="31" idx="6"/>
            <a:endCxn id="32" idx="2"/>
          </p:cNvCxnSpPr>
          <p:nvPr/>
        </p:nvCxnSpPr>
        <p:spPr>
          <a:xfrm>
            <a:off x="4969781" y="712108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11BCC38-16CB-6D5F-B63C-A13CC21625D8}"/>
              </a:ext>
            </a:extLst>
          </p:cNvPr>
          <p:cNvCxnSpPr>
            <a:cxnSpLocks/>
            <a:stCxn id="32" idx="6"/>
            <a:endCxn id="33" idx="2"/>
          </p:cNvCxnSpPr>
          <p:nvPr/>
        </p:nvCxnSpPr>
        <p:spPr>
          <a:xfrm>
            <a:off x="6338585" y="712108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C4FEC69-96AE-5CE2-3A7D-753B5FE75073}"/>
              </a:ext>
            </a:extLst>
          </p:cNvPr>
          <p:cNvSpPr txBox="1"/>
          <p:nvPr/>
        </p:nvSpPr>
        <p:spPr>
          <a:xfrm>
            <a:off x="9096464" y="2134869"/>
            <a:ext cx="1652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w1 = 3</a:t>
            </a:r>
            <a:b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w2 = 4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w3 = 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145DBE-8380-791F-89F0-D704B39A7629}"/>
              </a:ext>
            </a:extLst>
          </p:cNvPr>
          <p:cNvSpPr txBox="1"/>
          <p:nvPr/>
        </p:nvSpPr>
        <p:spPr>
          <a:xfrm>
            <a:off x="9053821" y="356199"/>
            <a:ext cx="2708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Target = 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2C646F4-8BE4-5CDA-17A9-C2E0FDD69BFC}"/>
              </a:ext>
            </a:extLst>
          </p:cNvPr>
          <p:cNvSpPr txBox="1"/>
          <p:nvPr/>
        </p:nvSpPr>
        <p:spPr>
          <a:xfrm>
            <a:off x="9053821" y="904670"/>
            <a:ext cx="2622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Predicted = -10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8D19095-75E4-16DC-D083-413DDB2D5479}"/>
              </a:ext>
            </a:extLst>
          </p:cNvPr>
          <p:cNvSpPr txBox="1"/>
          <p:nvPr/>
        </p:nvSpPr>
        <p:spPr>
          <a:xfrm>
            <a:off x="9096464" y="1483513"/>
            <a:ext cx="2827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Loss = 20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DB0A4B1-C308-86E7-DA5D-3D37E7C254BB}"/>
              </a:ext>
            </a:extLst>
          </p:cNvPr>
          <p:cNvSpPr txBox="1"/>
          <p:nvPr/>
        </p:nvSpPr>
        <p:spPr>
          <a:xfrm>
            <a:off x="1216405" y="503339"/>
            <a:ext cx="27998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g = -2*w1</a:t>
            </a:r>
          </a:p>
          <a:p>
            <a:r>
              <a:rPr lang="en-US" sz="3600" dirty="0">
                <a:solidFill>
                  <a:srgbClr val="C00000"/>
                </a:solidFill>
              </a:rPr>
              <a:t>y = w2 + g</a:t>
            </a:r>
            <a:endParaRPr lang="en-US" dirty="0"/>
          </a:p>
          <a:p>
            <a:r>
              <a:rPr lang="en-US" sz="3600" dirty="0">
                <a:solidFill>
                  <a:srgbClr val="C00000"/>
                </a:solidFill>
              </a:rPr>
              <a:t>z = y*w3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014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99855-D1D9-6687-6999-E232AC9B6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8EF1B79-1145-E3F6-8E01-56B80D20FAB5}"/>
              </a:ext>
            </a:extLst>
          </p:cNvPr>
          <p:cNvSpPr txBox="1"/>
          <p:nvPr/>
        </p:nvSpPr>
        <p:spPr>
          <a:xfrm>
            <a:off x="1006679" y="2968184"/>
            <a:ext cx="59344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/dw1 = </a:t>
            </a:r>
            <a:r>
              <a:rPr lang="en-US" sz="2800" dirty="0" err="1"/>
              <a:t>dz</a:t>
            </a:r>
            <a:r>
              <a:rPr lang="en-US" sz="2800" dirty="0"/>
              <a:t>/</a:t>
            </a:r>
            <a:r>
              <a:rPr lang="en-US" sz="2800" dirty="0" err="1"/>
              <a:t>dy</a:t>
            </a:r>
            <a:r>
              <a:rPr lang="en-US" sz="2800" dirty="0"/>
              <a:t> * </a:t>
            </a:r>
            <a:r>
              <a:rPr lang="en-US" sz="2800" dirty="0" err="1"/>
              <a:t>dy</a:t>
            </a:r>
            <a:r>
              <a:rPr lang="en-US" sz="2800" dirty="0"/>
              <a:t>/dg * dg/dw1</a:t>
            </a:r>
          </a:p>
        </p:txBody>
      </p:sp>
      <p:pic>
        <p:nvPicPr>
          <p:cNvPr id="14" name="Content Placeholder 4">
            <a:extLst>
              <a:ext uri="{FF2B5EF4-FFF2-40B4-BE49-F238E27FC236}">
                <a16:creationId xmlns:a16="http://schemas.microsoft.com/office/drawing/2014/main" id="{8B2A6E8F-2A3A-5706-2B99-9E4DAF85D2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53"/>
          <a:stretch>
            <a:fillRect/>
          </a:stretch>
        </p:blipFill>
        <p:spPr>
          <a:xfrm>
            <a:off x="9077586" y="3229794"/>
            <a:ext cx="2429357" cy="96329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31D007-4AD6-4A14-8CC0-270CE078B2C9}"/>
              </a:ext>
            </a:extLst>
          </p:cNvPr>
          <p:cNvSpPr txBox="1"/>
          <p:nvPr/>
        </p:nvSpPr>
        <p:spPr>
          <a:xfrm>
            <a:off x="4229453" y="3691271"/>
            <a:ext cx="48068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(f(</a:t>
            </a:r>
            <a:r>
              <a:rPr lang="en-US" dirty="0" err="1"/>
              <a:t>x+h</a:t>
            </a:r>
            <a:r>
              <a:rPr lang="en-US" dirty="0"/>
              <a:t>) – f(x)) / h</a:t>
            </a:r>
          </a:p>
          <a:p>
            <a:r>
              <a:rPr lang="en-US" dirty="0"/>
              <a:t>(g(w1+h) – g(w1)) / h</a:t>
            </a:r>
          </a:p>
          <a:p>
            <a:r>
              <a:rPr lang="en-US" dirty="0"/>
              <a:t>(-2*(w1+h) + 2*w1) / h</a:t>
            </a:r>
          </a:p>
          <a:p>
            <a:r>
              <a:rPr lang="en-US" dirty="0"/>
              <a:t>(-</a:t>
            </a:r>
            <a:r>
              <a:rPr lang="en-US" strike="sngStrike" dirty="0"/>
              <a:t>2*w1</a:t>
            </a:r>
            <a:r>
              <a:rPr lang="en-US" dirty="0"/>
              <a:t> - 2*h + </a:t>
            </a:r>
            <a:r>
              <a:rPr lang="en-US" strike="sngStrike" dirty="0"/>
              <a:t>2*w1</a:t>
            </a:r>
            <a:r>
              <a:rPr lang="en-US" dirty="0"/>
              <a:t>) / h</a:t>
            </a:r>
          </a:p>
          <a:p>
            <a:r>
              <a:rPr lang="en-US" dirty="0"/>
              <a:t>-2*h / h = -2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AC85E21-86D4-0B47-C1BC-1D68EA112430}"/>
              </a:ext>
            </a:extLst>
          </p:cNvPr>
          <p:cNvSpPr/>
          <p:nvPr/>
        </p:nvSpPr>
        <p:spPr>
          <a:xfrm>
            <a:off x="520117" y="3079336"/>
            <a:ext cx="394283" cy="3060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5AA501D-E154-9851-B6B9-E53D609BD712}"/>
              </a:ext>
            </a:extLst>
          </p:cNvPr>
          <p:cNvCxnSpPr>
            <a:cxnSpLocks/>
          </p:cNvCxnSpPr>
          <p:nvPr/>
        </p:nvCxnSpPr>
        <p:spPr>
          <a:xfrm>
            <a:off x="2585211" y="3999438"/>
            <a:ext cx="13827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B04C8D3-4505-402B-938E-4064F069B8F6}"/>
              </a:ext>
            </a:extLst>
          </p:cNvPr>
          <p:cNvSpPr txBox="1"/>
          <p:nvPr/>
        </p:nvSpPr>
        <p:spPr>
          <a:xfrm>
            <a:off x="1006679" y="3741490"/>
            <a:ext cx="199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dg/dw1 = -2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8B845C96-01A4-1439-826E-0F3C02FD4509}"/>
              </a:ext>
            </a:extLst>
          </p:cNvPr>
          <p:cNvSpPr txBox="1">
            <a:spLocks/>
          </p:cNvSpPr>
          <p:nvPr/>
        </p:nvSpPr>
        <p:spPr>
          <a:xfrm>
            <a:off x="774583" y="2207674"/>
            <a:ext cx="4236441" cy="533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800"/>
              <a:t>z = (w2 + -2*w1)*w3</a:t>
            </a:r>
          </a:p>
          <a:p>
            <a:pPr marL="0" indent="0">
              <a:buFont typeface="Wingdings" pitchFamily="2" charset="2"/>
              <a:buNone/>
            </a:pPr>
            <a:endParaRPr lang="en-US" sz="280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F69DACD-CE89-59B9-8348-8E033FE476F9}"/>
              </a:ext>
            </a:extLst>
          </p:cNvPr>
          <p:cNvSpPr/>
          <p:nvPr/>
        </p:nvSpPr>
        <p:spPr>
          <a:xfrm>
            <a:off x="4189605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484E92B-7E49-F15D-32FB-5444F479192B}"/>
              </a:ext>
            </a:extLst>
          </p:cNvPr>
          <p:cNvSpPr/>
          <p:nvPr/>
        </p:nvSpPr>
        <p:spPr>
          <a:xfrm>
            <a:off x="5558409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765FDDE-DD24-C937-C282-F73D70AD3728}"/>
              </a:ext>
            </a:extLst>
          </p:cNvPr>
          <p:cNvSpPr/>
          <p:nvPr/>
        </p:nvSpPr>
        <p:spPr>
          <a:xfrm>
            <a:off x="6927213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005D894-973D-E0D0-3DEB-83E0649FFF4F}"/>
              </a:ext>
            </a:extLst>
          </p:cNvPr>
          <p:cNvCxnSpPr>
            <a:cxnSpLocks/>
            <a:stCxn id="31" idx="6"/>
            <a:endCxn id="32" idx="2"/>
          </p:cNvCxnSpPr>
          <p:nvPr/>
        </p:nvCxnSpPr>
        <p:spPr>
          <a:xfrm>
            <a:off x="4969781" y="712108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0340F76-9D0B-8822-F797-80BBF25DCC36}"/>
              </a:ext>
            </a:extLst>
          </p:cNvPr>
          <p:cNvCxnSpPr>
            <a:cxnSpLocks/>
            <a:stCxn id="32" idx="6"/>
            <a:endCxn id="33" idx="2"/>
          </p:cNvCxnSpPr>
          <p:nvPr/>
        </p:nvCxnSpPr>
        <p:spPr>
          <a:xfrm>
            <a:off x="6338585" y="712108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639948E-340A-A88B-1B37-86EEEC6056EB}"/>
              </a:ext>
            </a:extLst>
          </p:cNvPr>
          <p:cNvSpPr txBox="1"/>
          <p:nvPr/>
        </p:nvSpPr>
        <p:spPr>
          <a:xfrm>
            <a:off x="9096464" y="2134869"/>
            <a:ext cx="1652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w1 = 3</a:t>
            </a:r>
            <a:b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w2 = 4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w3 = 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8A7B4D8-89EB-59B1-BCA0-F6E0E5717E66}"/>
              </a:ext>
            </a:extLst>
          </p:cNvPr>
          <p:cNvSpPr txBox="1"/>
          <p:nvPr/>
        </p:nvSpPr>
        <p:spPr>
          <a:xfrm>
            <a:off x="9053821" y="356199"/>
            <a:ext cx="2708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Target = 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E5872E-BCE1-A551-4332-995B580E1C76}"/>
              </a:ext>
            </a:extLst>
          </p:cNvPr>
          <p:cNvSpPr txBox="1"/>
          <p:nvPr/>
        </p:nvSpPr>
        <p:spPr>
          <a:xfrm>
            <a:off x="9053821" y="904670"/>
            <a:ext cx="2622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Predicted = -10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0263D72-3429-6F30-0FB5-1410F7CCC4EA}"/>
              </a:ext>
            </a:extLst>
          </p:cNvPr>
          <p:cNvSpPr txBox="1"/>
          <p:nvPr/>
        </p:nvSpPr>
        <p:spPr>
          <a:xfrm>
            <a:off x="9096464" y="1483513"/>
            <a:ext cx="2827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Loss = 20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431D10F-6D5C-93FB-DC5B-FDB1088B2CE8}"/>
              </a:ext>
            </a:extLst>
          </p:cNvPr>
          <p:cNvSpPr txBox="1"/>
          <p:nvPr/>
        </p:nvSpPr>
        <p:spPr>
          <a:xfrm>
            <a:off x="1216405" y="503339"/>
            <a:ext cx="27998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g = -2*w1</a:t>
            </a:r>
          </a:p>
          <a:p>
            <a:r>
              <a:rPr lang="en-US" sz="3600" dirty="0">
                <a:solidFill>
                  <a:srgbClr val="C00000"/>
                </a:solidFill>
              </a:rPr>
              <a:t>y = w2 + g</a:t>
            </a:r>
            <a:endParaRPr lang="en-US" dirty="0"/>
          </a:p>
          <a:p>
            <a:r>
              <a:rPr lang="en-US" sz="3600" dirty="0">
                <a:solidFill>
                  <a:srgbClr val="C00000"/>
                </a:solidFill>
              </a:rPr>
              <a:t>z = y*w3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221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2" grpId="0"/>
      <p:bldP spid="11" grpId="0" animBg="1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2F067-11FF-C6DE-ED90-C63011A60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5A82DE1-3948-AE28-C9BF-E6CBE6AD8F7E}"/>
              </a:ext>
            </a:extLst>
          </p:cNvPr>
          <p:cNvSpPr txBox="1"/>
          <p:nvPr/>
        </p:nvSpPr>
        <p:spPr>
          <a:xfrm>
            <a:off x="1006678" y="2968184"/>
            <a:ext cx="10746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/dw1 = </a:t>
            </a:r>
            <a:r>
              <a:rPr lang="en-US" sz="2800" dirty="0" err="1"/>
              <a:t>dz</a:t>
            </a:r>
            <a:r>
              <a:rPr lang="en-US" sz="2800" dirty="0"/>
              <a:t>/</a:t>
            </a:r>
            <a:r>
              <a:rPr lang="en-US" sz="2800" dirty="0" err="1"/>
              <a:t>dy</a:t>
            </a:r>
            <a:r>
              <a:rPr lang="en-US" sz="2800" dirty="0"/>
              <a:t> * </a:t>
            </a:r>
            <a:r>
              <a:rPr lang="en-US" sz="2800" dirty="0" err="1"/>
              <a:t>dy</a:t>
            </a:r>
            <a:r>
              <a:rPr lang="en-US" sz="2800" dirty="0"/>
              <a:t>/dg * dg/dw1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A05158-80FF-9058-7DB5-4544D60492EB}"/>
              </a:ext>
            </a:extLst>
          </p:cNvPr>
          <p:cNvSpPr txBox="1"/>
          <p:nvPr/>
        </p:nvSpPr>
        <p:spPr>
          <a:xfrm>
            <a:off x="1006679" y="3741490"/>
            <a:ext cx="199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dg/dw1 = -2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7AC9ECC-4EF7-E62B-9B03-036830F5B142}"/>
              </a:ext>
            </a:extLst>
          </p:cNvPr>
          <p:cNvSpPr/>
          <p:nvPr/>
        </p:nvSpPr>
        <p:spPr>
          <a:xfrm>
            <a:off x="520117" y="3079336"/>
            <a:ext cx="394283" cy="3060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7E75EC-B44B-6A67-B608-5C62FBFE0B6E}"/>
              </a:ext>
            </a:extLst>
          </p:cNvPr>
          <p:cNvSpPr txBox="1"/>
          <p:nvPr/>
        </p:nvSpPr>
        <p:spPr>
          <a:xfrm>
            <a:off x="1006679" y="4162577"/>
            <a:ext cx="1560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dy</a:t>
            </a:r>
            <a:r>
              <a:rPr lang="en-US" dirty="0"/>
              <a:t>/dg =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BEC899-20E4-2D75-0C84-C989F6A20EB7}"/>
              </a:ext>
            </a:extLst>
          </p:cNvPr>
          <p:cNvSpPr txBox="1"/>
          <p:nvPr/>
        </p:nvSpPr>
        <p:spPr>
          <a:xfrm>
            <a:off x="3917659" y="3787656"/>
            <a:ext cx="38589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(f(</a:t>
            </a:r>
            <a:r>
              <a:rPr lang="en-US" dirty="0" err="1"/>
              <a:t>x+h</a:t>
            </a:r>
            <a:r>
              <a:rPr lang="en-US" dirty="0"/>
              <a:t>) – f(x)) / h</a:t>
            </a:r>
          </a:p>
          <a:p>
            <a:r>
              <a:rPr lang="en-US" dirty="0"/>
              <a:t>(y(</a:t>
            </a:r>
            <a:r>
              <a:rPr lang="en-US" dirty="0" err="1"/>
              <a:t>g+h</a:t>
            </a:r>
            <a:r>
              <a:rPr lang="en-US" dirty="0"/>
              <a:t>) – y(g)) / h</a:t>
            </a:r>
          </a:p>
          <a:p>
            <a:r>
              <a:rPr lang="en-US" dirty="0"/>
              <a:t>(w2 + (</a:t>
            </a:r>
            <a:r>
              <a:rPr lang="en-US" dirty="0" err="1"/>
              <a:t>g+h</a:t>
            </a:r>
            <a:r>
              <a:rPr lang="en-US" dirty="0"/>
              <a:t>) – (w2+g)) / h</a:t>
            </a:r>
          </a:p>
          <a:p>
            <a:r>
              <a:rPr lang="en-US" dirty="0"/>
              <a:t>(</a:t>
            </a:r>
            <a:r>
              <a:rPr lang="en-US" strike="sngStrike" dirty="0"/>
              <a:t>w2</a:t>
            </a:r>
            <a:r>
              <a:rPr lang="en-US" dirty="0"/>
              <a:t> + </a:t>
            </a:r>
            <a:r>
              <a:rPr lang="en-US" strike="sngStrike" dirty="0"/>
              <a:t>g</a:t>
            </a:r>
            <a:r>
              <a:rPr lang="en-US" dirty="0"/>
              <a:t> + h – </a:t>
            </a:r>
            <a:r>
              <a:rPr lang="en-US" strike="sngStrike" dirty="0"/>
              <a:t>w2</a:t>
            </a:r>
            <a:r>
              <a:rPr lang="en-US" dirty="0"/>
              <a:t> – </a:t>
            </a:r>
            <a:r>
              <a:rPr lang="en-US" strike="sngStrike" dirty="0"/>
              <a:t>g</a:t>
            </a:r>
            <a:r>
              <a:rPr lang="en-US" dirty="0"/>
              <a:t>) / h</a:t>
            </a:r>
          </a:p>
          <a:p>
            <a:r>
              <a:rPr lang="en-US" dirty="0"/>
              <a:t>h / h = 1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A3E7710-0A9B-C4DE-06B2-68011AF81611}"/>
              </a:ext>
            </a:extLst>
          </p:cNvPr>
          <p:cNvCxnSpPr>
            <a:cxnSpLocks/>
          </p:cNvCxnSpPr>
          <p:nvPr/>
        </p:nvCxnSpPr>
        <p:spPr>
          <a:xfrm>
            <a:off x="2333541" y="4353186"/>
            <a:ext cx="13827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Content Placeholder 4">
            <a:extLst>
              <a:ext uri="{FF2B5EF4-FFF2-40B4-BE49-F238E27FC236}">
                <a16:creationId xmlns:a16="http://schemas.microsoft.com/office/drawing/2014/main" id="{8DF66169-218C-0274-2CAE-A763187BBD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53"/>
          <a:stretch>
            <a:fillRect/>
          </a:stretch>
        </p:blipFill>
        <p:spPr>
          <a:xfrm>
            <a:off x="9077586" y="3229794"/>
            <a:ext cx="2429357" cy="963291"/>
          </a:xfrm>
          <a:prstGeom prst="rect">
            <a:avLst/>
          </a:prstGeom>
        </p:spPr>
      </p:pic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2953BF55-976B-3A56-C796-98C01DEDF399}"/>
              </a:ext>
            </a:extLst>
          </p:cNvPr>
          <p:cNvSpPr txBox="1">
            <a:spLocks/>
          </p:cNvSpPr>
          <p:nvPr/>
        </p:nvSpPr>
        <p:spPr>
          <a:xfrm>
            <a:off x="774583" y="2207674"/>
            <a:ext cx="4236441" cy="533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800"/>
              <a:t>z = (w2 + -2*w1)*w3</a:t>
            </a:r>
          </a:p>
          <a:p>
            <a:pPr marL="0" indent="0">
              <a:buFont typeface="Wingdings" pitchFamily="2" charset="2"/>
              <a:buNone/>
            </a:pPr>
            <a:endParaRPr lang="en-US" sz="280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7F4F19C-E7D8-8D1B-F9D3-B4FF3A137936}"/>
              </a:ext>
            </a:extLst>
          </p:cNvPr>
          <p:cNvSpPr/>
          <p:nvPr/>
        </p:nvSpPr>
        <p:spPr>
          <a:xfrm>
            <a:off x="4189605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018D357-F11D-7E37-5E7D-9D9BFDC8BA68}"/>
              </a:ext>
            </a:extLst>
          </p:cNvPr>
          <p:cNvSpPr/>
          <p:nvPr/>
        </p:nvSpPr>
        <p:spPr>
          <a:xfrm>
            <a:off x="5558409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14DD107-BDA5-3626-744D-7FC5BC2A04A5}"/>
              </a:ext>
            </a:extLst>
          </p:cNvPr>
          <p:cNvSpPr/>
          <p:nvPr/>
        </p:nvSpPr>
        <p:spPr>
          <a:xfrm>
            <a:off x="6927213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166ED2F-7A2A-4E62-B4A3-9533AA135EF2}"/>
              </a:ext>
            </a:extLst>
          </p:cNvPr>
          <p:cNvCxnSpPr>
            <a:cxnSpLocks/>
            <a:stCxn id="32" idx="6"/>
            <a:endCxn id="33" idx="2"/>
          </p:cNvCxnSpPr>
          <p:nvPr/>
        </p:nvCxnSpPr>
        <p:spPr>
          <a:xfrm>
            <a:off x="4969781" y="712108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2B68B6D-CB44-7D2E-0F92-DFD0D31AB515}"/>
              </a:ext>
            </a:extLst>
          </p:cNvPr>
          <p:cNvCxnSpPr>
            <a:cxnSpLocks/>
            <a:stCxn id="33" idx="6"/>
            <a:endCxn id="34" idx="2"/>
          </p:cNvCxnSpPr>
          <p:nvPr/>
        </p:nvCxnSpPr>
        <p:spPr>
          <a:xfrm>
            <a:off x="6338585" y="712108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8F5D04B-7FDC-8F14-880E-0F4D89B4D4D5}"/>
              </a:ext>
            </a:extLst>
          </p:cNvPr>
          <p:cNvSpPr txBox="1"/>
          <p:nvPr/>
        </p:nvSpPr>
        <p:spPr>
          <a:xfrm>
            <a:off x="9096464" y="2134869"/>
            <a:ext cx="1652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w1 = 3</a:t>
            </a:r>
            <a:b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w2 = 4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w3 = 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795C544-387A-A833-8349-71983D3FF7AD}"/>
              </a:ext>
            </a:extLst>
          </p:cNvPr>
          <p:cNvSpPr txBox="1"/>
          <p:nvPr/>
        </p:nvSpPr>
        <p:spPr>
          <a:xfrm>
            <a:off x="9053821" y="356199"/>
            <a:ext cx="2708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Target = 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B78E05-D6A0-425E-1FEF-A2889500FF4E}"/>
              </a:ext>
            </a:extLst>
          </p:cNvPr>
          <p:cNvSpPr txBox="1"/>
          <p:nvPr/>
        </p:nvSpPr>
        <p:spPr>
          <a:xfrm>
            <a:off x="9053821" y="904670"/>
            <a:ext cx="2622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Predicted = -10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D811AEC-6745-31B6-CC7F-E9781303653C}"/>
              </a:ext>
            </a:extLst>
          </p:cNvPr>
          <p:cNvSpPr txBox="1"/>
          <p:nvPr/>
        </p:nvSpPr>
        <p:spPr>
          <a:xfrm>
            <a:off x="9096464" y="1483513"/>
            <a:ext cx="2827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Loss = 20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E49AB58-74E1-59AF-DD1F-A7FE92316A85}"/>
              </a:ext>
            </a:extLst>
          </p:cNvPr>
          <p:cNvSpPr txBox="1"/>
          <p:nvPr/>
        </p:nvSpPr>
        <p:spPr>
          <a:xfrm>
            <a:off x="1216405" y="503339"/>
            <a:ext cx="27998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g = -2*w1</a:t>
            </a:r>
          </a:p>
          <a:p>
            <a:r>
              <a:rPr lang="en-US" sz="3600" dirty="0">
                <a:solidFill>
                  <a:srgbClr val="C00000"/>
                </a:solidFill>
              </a:rPr>
              <a:t>y = w2 + g</a:t>
            </a:r>
            <a:endParaRPr lang="en-US" dirty="0"/>
          </a:p>
          <a:p>
            <a:r>
              <a:rPr lang="en-US" sz="3600" dirty="0">
                <a:solidFill>
                  <a:srgbClr val="C00000"/>
                </a:solidFill>
              </a:rPr>
              <a:t>z = y*w3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401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1F358-6F46-D028-C1EF-34FA8579B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8243D7D-FB96-D936-3751-1B35CB5205EE}"/>
              </a:ext>
            </a:extLst>
          </p:cNvPr>
          <p:cNvSpPr txBox="1"/>
          <p:nvPr/>
        </p:nvSpPr>
        <p:spPr>
          <a:xfrm>
            <a:off x="1006678" y="2968184"/>
            <a:ext cx="10746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/dw1 = </a:t>
            </a:r>
            <a:r>
              <a:rPr lang="en-US" sz="2800" dirty="0" err="1"/>
              <a:t>dz</a:t>
            </a:r>
            <a:r>
              <a:rPr lang="en-US" sz="2800" dirty="0"/>
              <a:t>/</a:t>
            </a:r>
            <a:r>
              <a:rPr lang="en-US" sz="2800" dirty="0" err="1"/>
              <a:t>dy</a:t>
            </a:r>
            <a:r>
              <a:rPr lang="en-US" sz="2800" dirty="0"/>
              <a:t> * </a:t>
            </a:r>
            <a:r>
              <a:rPr lang="en-US" sz="2800" dirty="0" err="1"/>
              <a:t>dy</a:t>
            </a:r>
            <a:r>
              <a:rPr lang="en-US" sz="2800" dirty="0"/>
              <a:t>/dg * dg/dw1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B0A980-A126-9568-A4B0-532C95FD3D47}"/>
              </a:ext>
            </a:extLst>
          </p:cNvPr>
          <p:cNvSpPr txBox="1"/>
          <p:nvPr/>
        </p:nvSpPr>
        <p:spPr>
          <a:xfrm>
            <a:off x="1006679" y="3741490"/>
            <a:ext cx="199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dg/dw1 = -2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5A845EBC-49EC-329F-2426-AD538894A338}"/>
              </a:ext>
            </a:extLst>
          </p:cNvPr>
          <p:cNvSpPr/>
          <p:nvPr/>
        </p:nvSpPr>
        <p:spPr>
          <a:xfrm>
            <a:off x="520117" y="3079336"/>
            <a:ext cx="394283" cy="3060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C19F6E-59BF-0D1D-F17F-7C3FE197EC10}"/>
              </a:ext>
            </a:extLst>
          </p:cNvPr>
          <p:cNvSpPr txBox="1"/>
          <p:nvPr/>
        </p:nvSpPr>
        <p:spPr>
          <a:xfrm>
            <a:off x="1006679" y="4162577"/>
            <a:ext cx="1560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dy</a:t>
            </a:r>
            <a:r>
              <a:rPr lang="en-US" dirty="0"/>
              <a:t>/dg =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B866CB-F9A1-25FA-CCC0-20704174D164}"/>
              </a:ext>
            </a:extLst>
          </p:cNvPr>
          <p:cNvSpPr txBox="1"/>
          <p:nvPr/>
        </p:nvSpPr>
        <p:spPr>
          <a:xfrm>
            <a:off x="1006679" y="4575008"/>
            <a:ext cx="1560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dz</a:t>
            </a:r>
            <a:r>
              <a:rPr lang="en-US" dirty="0"/>
              <a:t>/</a:t>
            </a:r>
            <a:r>
              <a:rPr lang="en-US" dirty="0" err="1"/>
              <a:t>dy</a:t>
            </a:r>
            <a:r>
              <a:rPr lang="en-US" dirty="0"/>
              <a:t> = w3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15CADE-6EE6-B14B-DA50-FD58A680D7F5}"/>
              </a:ext>
            </a:extLst>
          </p:cNvPr>
          <p:cNvSpPr txBox="1"/>
          <p:nvPr/>
        </p:nvSpPr>
        <p:spPr>
          <a:xfrm>
            <a:off x="4313343" y="4288541"/>
            <a:ext cx="38589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(f(</a:t>
            </a:r>
            <a:r>
              <a:rPr lang="en-US" dirty="0" err="1"/>
              <a:t>x+h</a:t>
            </a:r>
            <a:r>
              <a:rPr lang="en-US" dirty="0"/>
              <a:t>) – f(x)) / h</a:t>
            </a:r>
          </a:p>
          <a:p>
            <a:r>
              <a:rPr lang="en-US" dirty="0"/>
              <a:t>(z(</a:t>
            </a:r>
            <a:r>
              <a:rPr lang="en-US" dirty="0" err="1"/>
              <a:t>y+h</a:t>
            </a:r>
            <a:r>
              <a:rPr lang="en-US" dirty="0"/>
              <a:t>) – z(y)) / h</a:t>
            </a:r>
          </a:p>
          <a:p>
            <a:r>
              <a:rPr lang="en-US" dirty="0"/>
              <a:t>((</a:t>
            </a:r>
            <a:r>
              <a:rPr lang="en-US" dirty="0" err="1"/>
              <a:t>y+h</a:t>
            </a:r>
            <a:r>
              <a:rPr lang="en-US" dirty="0"/>
              <a:t>)*w3 – y*w3) / h</a:t>
            </a:r>
          </a:p>
          <a:p>
            <a:r>
              <a:rPr lang="en-US" dirty="0"/>
              <a:t>(</a:t>
            </a:r>
            <a:r>
              <a:rPr lang="en-US" strike="sngStrike" dirty="0"/>
              <a:t>y*w3</a:t>
            </a:r>
            <a:r>
              <a:rPr lang="en-US" dirty="0"/>
              <a:t> + h*w3 – </a:t>
            </a:r>
            <a:r>
              <a:rPr lang="en-US" strike="sngStrike" dirty="0"/>
              <a:t>y*w3</a:t>
            </a:r>
            <a:r>
              <a:rPr lang="en-US" dirty="0"/>
              <a:t>) / h</a:t>
            </a:r>
          </a:p>
          <a:p>
            <a:r>
              <a:rPr lang="en-US" dirty="0"/>
              <a:t>h*w3 / h = w3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61F7190-D638-DBF0-366D-95A86E62A68D}"/>
              </a:ext>
            </a:extLst>
          </p:cNvPr>
          <p:cNvCxnSpPr>
            <a:cxnSpLocks/>
          </p:cNvCxnSpPr>
          <p:nvPr/>
        </p:nvCxnSpPr>
        <p:spPr>
          <a:xfrm>
            <a:off x="2476154" y="4713913"/>
            <a:ext cx="13827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Content Placeholder 4">
            <a:extLst>
              <a:ext uri="{FF2B5EF4-FFF2-40B4-BE49-F238E27FC236}">
                <a16:creationId xmlns:a16="http://schemas.microsoft.com/office/drawing/2014/main" id="{9714BCF9-A41D-026D-2905-6488B67142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53"/>
          <a:stretch>
            <a:fillRect/>
          </a:stretch>
        </p:blipFill>
        <p:spPr>
          <a:xfrm>
            <a:off x="9077586" y="3229794"/>
            <a:ext cx="2429357" cy="963291"/>
          </a:xfrm>
          <a:prstGeom prst="rect">
            <a:avLst/>
          </a:prstGeom>
        </p:spPr>
      </p:pic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944E6043-D53A-1CEC-03E5-3455E70395F2}"/>
              </a:ext>
            </a:extLst>
          </p:cNvPr>
          <p:cNvSpPr txBox="1">
            <a:spLocks/>
          </p:cNvSpPr>
          <p:nvPr/>
        </p:nvSpPr>
        <p:spPr>
          <a:xfrm>
            <a:off x="774583" y="2207674"/>
            <a:ext cx="4236441" cy="533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800"/>
              <a:t>z = (w2 + -2*w1)*w3</a:t>
            </a:r>
          </a:p>
          <a:p>
            <a:pPr marL="0" indent="0">
              <a:buFont typeface="Wingdings" pitchFamily="2" charset="2"/>
              <a:buNone/>
            </a:pPr>
            <a:endParaRPr lang="en-US" sz="280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6CA9C9A-D9E4-6D93-6EB4-8D2E2D1C3E7D}"/>
              </a:ext>
            </a:extLst>
          </p:cNvPr>
          <p:cNvSpPr/>
          <p:nvPr/>
        </p:nvSpPr>
        <p:spPr>
          <a:xfrm>
            <a:off x="4189605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5B1CC56-085B-27CA-12CA-0FF5224802F0}"/>
              </a:ext>
            </a:extLst>
          </p:cNvPr>
          <p:cNvSpPr/>
          <p:nvPr/>
        </p:nvSpPr>
        <p:spPr>
          <a:xfrm>
            <a:off x="5558409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E3C84F9-6435-5B64-B832-22D215CC4BF5}"/>
              </a:ext>
            </a:extLst>
          </p:cNvPr>
          <p:cNvSpPr/>
          <p:nvPr/>
        </p:nvSpPr>
        <p:spPr>
          <a:xfrm>
            <a:off x="6927213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7929BAB-4C18-AE60-13CE-0623023C8B0D}"/>
              </a:ext>
            </a:extLst>
          </p:cNvPr>
          <p:cNvCxnSpPr>
            <a:cxnSpLocks/>
            <a:stCxn id="25" idx="6"/>
            <a:endCxn id="26" idx="2"/>
          </p:cNvCxnSpPr>
          <p:nvPr/>
        </p:nvCxnSpPr>
        <p:spPr>
          <a:xfrm>
            <a:off x="4969781" y="712108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CFF865A-7CBF-F332-AE42-5CDF91C1F30B}"/>
              </a:ext>
            </a:extLst>
          </p:cNvPr>
          <p:cNvCxnSpPr>
            <a:cxnSpLocks/>
            <a:stCxn id="26" idx="6"/>
            <a:endCxn id="27" idx="2"/>
          </p:cNvCxnSpPr>
          <p:nvPr/>
        </p:nvCxnSpPr>
        <p:spPr>
          <a:xfrm>
            <a:off x="6338585" y="712108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A8B2440-DAAD-F467-4818-DF59D6432553}"/>
              </a:ext>
            </a:extLst>
          </p:cNvPr>
          <p:cNvSpPr txBox="1"/>
          <p:nvPr/>
        </p:nvSpPr>
        <p:spPr>
          <a:xfrm>
            <a:off x="9096464" y="2134869"/>
            <a:ext cx="1652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w1 = 3</a:t>
            </a:r>
            <a:b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w2 = 4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w3 = 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1AAFCB-B8FB-A492-DECC-3D0688327335}"/>
              </a:ext>
            </a:extLst>
          </p:cNvPr>
          <p:cNvSpPr txBox="1"/>
          <p:nvPr/>
        </p:nvSpPr>
        <p:spPr>
          <a:xfrm>
            <a:off x="9053821" y="356199"/>
            <a:ext cx="2708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Target = 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308EFA-6B09-1AB7-2C88-26663117A8F1}"/>
              </a:ext>
            </a:extLst>
          </p:cNvPr>
          <p:cNvSpPr txBox="1"/>
          <p:nvPr/>
        </p:nvSpPr>
        <p:spPr>
          <a:xfrm>
            <a:off x="9053821" y="904670"/>
            <a:ext cx="2622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Predicted = -10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55D258-FF38-A1E7-3C5A-12A627EA2F67}"/>
              </a:ext>
            </a:extLst>
          </p:cNvPr>
          <p:cNvSpPr txBox="1"/>
          <p:nvPr/>
        </p:nvSpPr>
        <p:spPr>
          <a:xfrm>
            <a:off x="9096464" y="1483513"/>
            <a:ext cx="2827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Loss = 20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6304B4-B259-56AA-3ECF-816BBF8F9E4C}"/>
              </a:ext>
            </a:extLst>
          </p:cNvPr>
          <p:cNvSpPr txBox="1"/>
          <p:nvPr/>
        </p:nvSpPr>
        <p:spPr>
          <a:xfrm>
            <a:off x="1216405" y="503339"/>
            <a:ext cx="27998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g = -2*w1</a:t>
            </a:r>
          </a:p>
          <a:p>
            <a:r>
              <a:rPr lang="en-US" sz="3600" dirty="0">
                <a:solidFill>
                  <a:srgbClr val="C00000"/>
                </a:solidFill>
              </a:rPr>
              <a:t>y = w2 + g</a:t>
            </a:r>
            <a:endParaRPr lang="en-US" dirty="0"/>
          </a:p>
          <a:p>
            <a:r>
              <a:rPr lang="en-US" sz="3600" dirty="0">
                <a:solidFill>
                  <a:srgbClr val="C00000"/>
                </a:solidFill>
              </a:rPr>
              <a:t>z = y*w3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335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322DF-6167-B013-8CD3-1D729C0A6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3C8F9DF-2DDA-3731-80C9-457BEBCB2367}"/>
              </a:ext>
            </a:extLst>
          </p:cNvPr>
          <p:cNvSpPr txBox="1"/>
          <p:nvPr/>
        </p:nvSpPr>
        <p:spPr>
          <a:xfrm>
            <a:off x="808139" y="5751680"/>
            <a:ext cx="10746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/dw1 = </a:t>
            </a:r>
            <a:r>
              <a:rPr lang="en-US" sz="2800" dirty="0" err="1"/>
              <a:t>dz</a:t>
            </a:r>
            <a:r>
              <a:rPr lang="en-US" sz="2800" dirty="0"/>
              <a:t>/</a:t>
            </a:r>
            <a:r>
              <a:rPr lang="en-US" sz="2800" dirty="0" err="1"/>
              <a:t>dy</a:t>
            </a:r>
            <a:r>
              <a:rPr lang="en-US" sz="2800" dirty="0"/>
              <a:t> * </a:t>
            </a:r>
            <a:r>
              <a:rPr lang="en-US" sz="2800" dirty="0" err="1"/>
              <a:t>dy</a:t>
            </a:r>
            <a:r>
              <a:rPr lang="en-US" sz="2800" dirty="0"/>
              <a:t>/dg * dg/dw1 = -2 * 1 * 5 = -10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82352C-2CEE-251C-07B2-60C5984E2DBD}"/>
              </a:ext>
            </a:extLst>
          </p:cNvPr>
          <p:cNvSpPr txBox="1"/>
          <p:nvPr/>
        </p:nvSpPr>
        <p:spPr>
          <a:xfrm>
            <a:off x="1006679" y="2961313"/>
            <a:ext cx="199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dg/dw1 = -2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B73271A-37E2-CA24-C22F-6FBE49CF7D9E}"/>
              </a:ext>
            </a:extLst>
          </p:cNvPr>
          <p:cNvSpPr/>
          <p:nvPr/>
        </p:nvSpPr>
        <p:spPr>
          <a:xfrm>
            <a:off x="321578" y="5862832"/>
            <a:ext cx="394283" cy="3060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7EA15E-4CDB-9983-FE6B-55BFA952C37D}"/>
              </a:ext>
            </a:extLst>
          </p:cNvPr>
          <p:cNvSpPr txBox="1"/>
          <p:nvPr/>
        </p:nvSpPr>
        <p:spPr>
          <a:xfrm>
            <a:off x="1006679" y="3382400"/>
            <a:ext cx="1560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dy</a:t>
            </a:r>
            <a:r>
              <a:rPr lang="en-US" dirty="0"/>
              <a:t>/dg =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2B81C9-9C7B-7AF8-D9D7-C4643799E5A6}"/>
              </a:ext>
            </a:extLst>
          </p:cNvPr>
          <p:cNvSpPr txBox="1"/>
          <p:nvPr/>
        </p:nvSpPr>
        <p:spPr>
          <a:xfrm>
            <a:off x="1006679" y="3794831"/>
            <a:ext cx="1895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dz</a:t>
            </a:r>
            <a:r>
              <a:rPr lang="en-US" dirty="0"/>
              <a:t>/</a:t>
            </a:r>
            <a:r>
              <a:rPr lang="en-US" dirty="0" err="1"/>
              <a:t>dy</a:t>
            </a:r>
            <a:r>
              <a:rPr lang="en-US" dirty="0"/>
              <a:t> = w3 = 5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CCC60039-09A5-4715-7E3F-C85B9339EBC5}"/>
              </a:ext>
            </a:extLst>
          </p:cNvPr>
          <p:cNvSpPr txBox="1">
            <a:spLocks/>
          </p:cNvSpPr>
          <p:nvPr/>
        </p:nvSpPr>
        <p:spPr>
          <a:xfrm>
            <a:off x="774583" y="2207674"/>
            <a:ext cx="4236441" cy="533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800" dirty="0"/>
              <a:t>z = (w2 + -2*w1)*w3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0C3AA90-C335-A05A-DA21-C310DFB5B347}"/>
              </a:ext>
            </a:extLst>
          </p:cNvPr>
          <p:cNvSpPr/>
          <p:nvPr/>
        </p:nvSpPr>
        <p:spPr>
          <a:xfrm>
            <a:off x="4189605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E4E0097-48E4-1C79-B128-3C966D3147BC}"/>
              </a:ext>
            </a:extLst>
          </p:cNvPr>
          <p:cNvSpPr/>
          <p:nvPr/>
        </p:nvSpPr>
        <p:spPr>
          <a:xfrm>
            <a:off x="5558409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81BF256-6A7E-7054-4176-5B5A1C127215}"/>
              </a:ext>
            </a:extLst>
          </p:cNvPr>
          <p:cNvSpPr/>
          <p:nvPr/>
        </p:nvSpPr>
        <p:spPr>
          <a:xfrm>
            <a:off x="6927213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6D8C714-08F5-83FA-CF3B-DD899DF68E80}"/>
              </a:ext>
            </a:extLst>
          </p:cNvPr>
          <p:cNvCxnSpPr>
            <a:cxnSpLocks/>
            <a:stCxn id="28" idx="6"/>
            <a:endCxn id="29" idx="2"/>
          </p:cNvCxnSpPr>
          <p:nvPr/>
        </p:nvCxnSpPr>
        <p:spPr>
          <a:xfrm>
            <a:off x="4969781" y="712108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F4C9FA9-9560-AAE1-FBBE-77F438D191E0}"/>
              </a:ext>
            </a:extLst>
          </p:cNvPr>
          <p:cNvCxnSpPr>
            <a:cxnSpLocks/>
            <a:stCxn id="29" idx="6"/>
            <a:endCxn id="30" idx="2"/>
          </p:cNvCxnSpPr>
          <p:nvPr/>
        </p:nvCxnSpPr>
        <p:spPr>
          <a:xfrm>
            <a:off x="6338585" y="712108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E31EEE9-3A65-DE50-4F00-BD57D1787B2A}"/>
              </a:ext>
            </a:extLst>
          </p:cNvPr>
          <p:cNvSpPr txBox="1"/>
          <p:nvPr/>
        </p:nvSpPr>
        <p:spPr>
          <a:xfrm>
            <a:off x="9096464" y="2134869"/>
            <a:ext cx="1652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w1 = 3</a:t>
            </a:r>
            <a:b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w2 = 4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w3 = 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356C02-8A1A-DA50-41CC-031DE1BA5817}"/>
              </a:ext>
            </a:extLst>
          </p:cNvPr>
          <p:cNvSpPr txBox="1"/>
          <p:nvPr/>
        </p:nvSpPr>
        <p:spPr>
          <a:xfrm>
            <a:off x="9053821" y="356199"/>
            <a:ext cx="2708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Target = 10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8671A86-D407-9EFB-4ED0-ACBE0EF643A2}"/>
              </a:ext>
            </a:extLst>
          </p:cNvPr>
          <p:cNvSpPr txBox="1"/>
          <p:nvPr/>
        </p:nvSpPr>
        <p:spPr>
          <a:xfrm>
            <a:off x="9053821" y="904670"/>
            <a:ext cx="2622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Predicted = -10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F5FBEC5-AC9E-67A6-0483-04E5E71D98E6}"/>
              </a:ext>
            </a:extLst>
          </p:cNvPr>
          <p:cNvSpPr txBox="1"/>
          <p:nvPr/>
        </p:nvSpPr>
        <p:spPr>
          <a:xfrm>
            <a:off x="9096464" y="1483513"/>
            <a:ext cx="2827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Loss = 20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59E3233-9032-0281-A36A-CB08B7E43D6D}"/>
              </a:ext>
            </a:extLst>
          </p:cNvPr>
          <p:cNvSpPr txBox="1"/>
          <p:nvPr/>
        </p:nvSpPr>
        <p:spPr>
          <a:xfrm>
            <a:off x="1216405" y="503339"/>
            <a:ext cx="27998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g = -2*w1</a:t>
            </a:r>
          </a:p>
          <a:p>
            <a:r>
              <a:rPr lang="en-US" sz="3600" dirty="0">
                <a:solidFill>
                  <a:srgbClr val="C00000"/>
                </a:solidFill>
              </a:rPr>
              <a:t>y = w2 + g</a:t>
            </a:r>
            <a:endParaRPr lang="en-US" dirty="0"/>
          </a:p>
          <a:p>
            <a:r>
              <a:rPr lang="en-US" sz="3600" dirty="0">
                <a:solidFill>
                  <a:srgbClr val="C00000"/>
                </a:solidFill>
              </a:rPr>
              <a:t>z = y*w3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96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1" grpId="0" animBg="1"/>
      <p:bldP spid="4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AB666-2F8B-D927-96CD-8799683EF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2EBA6A4-ABD8-356D-562B-FE59D067A8F9}"/>
              </a:ext>
            </a:extLst>
          </p:cNvPr>
          <p:cNvSpPr txBox="1"/>
          <p:nvPr/>
        </p:nvSpPr>
        <p:spPr>
          <a:xfrm>
            <a:off x="774583" y="3770582"/>
            <a:ext cx="7273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 / dw1 = </a:t>
            </a:r>
            <a:r>
              <a:rPr lang="en-US" sz="2800" dirty="0" err="1"/>
              <a:t>dz</a:t>
            </a:r>
            <a:r>
              <a:rPr lang="en-US" sz="2800" dirty="0"/>
              <a:t>/</a:t>
            </a:r>
            <a:r>
              <a:rPr lang="en-US" sz="2800" dirty="0" err="1"/>
              <a:t>dy</a:t>
            </a:r>
            <a:r>
              <a:rPr lang="en-US" sz="2800" dirty="0"/>
              <a:t> * </a:t>
            </a:r>
            <a:r>
              <a:rPr lang="en-US" sz="2800" dirty="0" err="1"/>
              <a:t>dy</a:t>
            </a:r>
            <a:r>
              <a:rPr lang="en-US" sz="2800" dirty="0"/>
              <a:t>/dg * dg/dw1 = -10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CFAD32-2CE1-7538-7CE4-AF5C9FBA5104}"/>
              </a:ext>
            </a:extLst>
          </p:cNvPr>
          <p:cNvSpPr txBox="1"/>
          <p:nvPr/>
        </p:nvSpPr>
        <p:spPr>
          <a:xfrm>
            <a:off x="774583" y="4293802"/>
            <a:ext cx="7617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 / dw2 = </a:t>
            </a:r>
            <a:r>
              <a:rPr lang="en-US" sz="2800" dirty="0" err="1"/>
              <a:t>dz</a:t>
            </a:r>
            <a:r>
              <a:rPr lang="en-US" sz="2800" dirty="0"/>
              <a:t>/</a:t>
            </a:r>
            <a:r>
              <a:rPr lang="en-US" sz="2800" dirty="0" err="1"/>
              <a:t>dy</a:t>
            </a:r>
            <a:r>
              <a:rPr lang="en-US" sz="2800" dirty="0"/>
              <a:t> * </a:t>
            </a:r>
            <a:r>
              <a:rPr lang="en-US" sz="2800" dirty="0" err="1"/>
              <a:t>dy</a:t>
            </a:r>
            <a:r>
              <a:rPr lang="en-US" sz="2800" dirty="0"/>
              <a:t>/dw2 = w3 * 1 = w3 = 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863C02-2206-23CD-826C-90AD2A8E7507}"/>
              </a:ext>
            </a:extLst>
          </p:cNvPr>
          <p:cNvSpPr txBox="1"/>
          <p:nvPr/>
        </p:nvSpPr>
        <p:spPr>
          <a:xfrm>
            <a:off x="728448" y="4829329"/>
            <a:ext cx="8349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 / dw3 = y = w2 + g = w2 - 2*w1 = 4 - 2*3 = -2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4ADAAC4-30C6-79D1-5D9B-254F485ED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583" y="2207674"/>
            <a:ext cx="4236441" cy="5338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z = (w2 + -2*w1)*w3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AB7FB89-D59F-7FFB-BE47-91E1F904D6E1}"/>
              </a:ext>
            </a:extLst>
          </p:cNvPr>
          <p:cNvSpPr/>
          <p:nvPr/>
        </p:nvSpPr>
        <p:spPr>
          <a:xfrm>
            <a:off x="4189605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2B6861C-1494-4965-79B9-D92E8D942EF5}"/>
              </a:ext>
            </a:extLst>
          </p:cNvPr>
          <p:cNvSpPr/>
          <p:nvPr/>
        </p:nvSpPr>
        <p:spPr>
          <a:xfrm>
            <a:off x="5558409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43FCDAA-8AC4-4963-7B42-3152AEAF351A}"/>
              </a:ext>
            </a:extLst>
          </p:cNvPr>
          <p:cNvSpPr/>
          <p:nvPr/>
        </p:nvSpPr>
        <p:spPr>
          <a:xfrm>
            <a:off x="6927213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0C81635-DC1F-E53C-33EA-EDE1367212C5}"/>
              </a:ext>
            </a:extLst>
          </p:cNvPr>
          <p:cNvCxnSpPr>
            <a:cxnSpLocks/>
            <a:stCxn id="13" idx="6"/>
            <a:endCxn id="15" idx="2"/>
          </p:cNvCxnSpPr>
          <p:nvPr/>
        </p:nvCxnSpPr>
        <p:spPr>
          <a:xfrm>
            <a:off x="4969781" y="712108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6DDD25E-6B30-C27D-D0AA-73B294233AC7}"/>
              </a:ext>
            </a:extLst>
          </p:cNvPr>
          <p:cNvCxnSpPr>
            <a:cxnSpLocks/>
            <a:stCxn id="15" idx="6"/>
            <a:endCxn id="17" idx="2"/>
          </p:cNvCxnSpPr>
          <p:nvPr/>
        </p:nvCxnSpPr>
        <p:spPr>
          <a:xfrm>
            <a:off x="6338585" y="712108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7F39D76-FB8E-FBF9-2AFC-A869F8AAC956}"/>
              </a:ext>
            </a:extLst>
          </p:cNvPr>
          <p:cNvSpPr txBox="1"/>
          <p:nvPr/>
        </p:nvSpPr>
        <p:spPr>
          <a:xfrm>
            <a:off x="9096464" y="2134869"/>
            <a:ext cx="1652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w1 = 3</a:t>
            </a:r>
            <a:b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w2 = 4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w3 = 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8C9033-3150-6A8C-C0FC-BA7E366B14E2}"/>
              </a:ext>
            </a:extLst>
          </p:cNvPr>
          <p:cNvSpPr txBox="1"/>
          <p:nvPr/>
        </p:nvSpPr>
        <p:spPr>
          <a:xfrm>
            <a:off x="9053821" y="356199"/>
            <a:ext cx="2708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Target = 10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4271D4-9E48-CE3C-1A61-9E4A7B6AFC9F}"/>
              </a:ext>
            </a:extLst>
          </p:cNvPr>
          <p:cNvSpPr txBox="1"/>
          <p:nvPr/>
        </p:nvSpPr>
        <p:spPr>
          <a:xfrm>
            <a:off x="9053821" y="904670"/>
            <a:ext cx="2622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Predicted = -10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486006-23C0-8863-E8B7-6B1AB9648CAA}"/>
              </a:ext>
            </a:extLst>
          </p:cNvPr>
          <p:cNvSpPr txBox="1"/>
          <p:nvPr/>
        </p:nvSpPr>
        <p:spPr>
          <a:xfrm>
            <a:off x="9096464" y="1483513"/>
            <a:ext cx="2827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Loss = 20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322504-56D8-486D-4579-42D9EE4C00F3}"/>
              </a:ext>
            </a:extLst>
          </p:cNvPr>
          <p:cNvSpPr txBox="1"/>
          <p:nvPr/>
        </p:nvSpPr>
        <p:spPr>
          <a:xfrm>
            <a:off x="1216405" y="503339"/>
            <a:ext cx="27998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g = -2*w1</a:t>
            </a:r>
          </a:p>
          <a:p>
            <a:r>
              <a:rPr lang="en-US" sz="3600" dirty="0">
                <a:solidFill>
                  <a:srgbClr val="C00000"/>
                </a:solidFill>
              </a:rPr>
              <a:t>y = w2 + g</a:t>
            </a:r>
            <a:endParaRPr lang="en-US" dirty="0"/>
          </a:p>
          <a:p>
            <a:r>
              <a:rPr lang="en-US" sz="3600" dirty="0">
                <a:solidFill>
                  <a:srgbClr val="C00000"/>
                </a:solidFill>
              </a:rPr>
              <a:t>z = y*w3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502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A107D-95A4-C6FC-7077-9F7ACF64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2421" y="2422489"/>
            <a:ext cx="10058400" cy="1609344"/>
          </a:xfrm>
        </p:spPr>
        <p:txBody>
          <a:bodyPr/>
          <a:lstStyle/>
          <a:p>
            <a:r>
              <a:rPr lang="en-US" dirty="0"/>
              <a:t>NEXT…</a:t>
            </a:r>
            <a:r>
              <a:rPr lang="en-US" b="1" cap="none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Gradient Descent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C0BBF9-9774-8D7A-E278-1F53568424E0}"/>
              </a:ext>
            </a:extLst>
          </p:cNvPr>
          <p:cNvSpPr txBox="1"/>
          <p:nvPr/>
        </p:nvSpPr>
        <p:spPr>
          <a:xfrm>
            <a:off x="4907559" y="3934437"/>
            <a:ext cx="17197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/>
              <a:t>🤔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2355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2198</TotalTime>
  <Words>1030</Words>
  <Application>Microsoft Office PowerPoint</Application>
  <PresentationFormat>Widescreen</PresentationFormat>
  <Paragraphs>157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Rockwell</vt:lpstr>
      <vt:lpstr>Rockwell Condensed</vt:lpstr>
      <vt:lpstr>Wingdings</vt:lpstr>
      <vt:lpstr>Wood Type</vt:lpstr>
      <vt:lpstr>Backpropagation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NEXT…Gradient Descent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Youssef Magdy</dc:creator>
  <cp:lastModifiedBy>Youssef Magdy</cp:lastModifiedBy>
  <cp:revision>8</cp:revision>
  <dcterms:created xsi:type="dcterms:W3CDTF">2026-02-23T23:11:21Z</dcterms:created>
  <dcterms:modified xsi:type="dcterms:W3CDTF">2026-02-25T11:52:15Z</dcterms:modified>
</cp:coreProperties>
</file>
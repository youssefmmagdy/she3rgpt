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DF80-B28D-D817-FBF0-287821685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dirty="0"/>
              <a:t>Derivative | slope | gradient</a:t>
            </a:r>
          </a:p>
        </p:txBody>
      </p:sp>
    </p:spTree>
    <p:extLst>
      <p:ext uri="{BB962C8B-B14F-4D97-AF65-F5344CB8AC3E}">
        <p14:creationId xmlns:p14="http://schemas.microsoft.com/office/powerpoint/2010/main" val="136997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090BBD-35C7-7C01-596E-8CB8FF0543B0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55AD49-1C20-E1FE-53BE-464519469F50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E930FA-1907-39AD-F319-8069CDA5C3A8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7BC4D-778C-CE76-D0EB-82AB3AAC4148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8B89C52-DCA3-6182-EEFC-C6A31950F084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4D3E9-F77B-7DA0-C7FB-7B51A539E18B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411F71-3270-8E08-CFF6-BE1C0BDA9EF7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FDA2AF-9A51-1CD2-8752-370BBD233379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C0B7C-0781-7972-1363-3C1474B5D13B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3EAEF-19E1-50D4-9118-0E73F8772C3F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2CE46A-E77E-319C-D08B-AF1E4F7E64E7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82D95-0FF6-E4A4-7002-EB2F8F940851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3F769-3FA5-E3C5-91B9-6CE19826D670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AEC12-DC47-EA79-32DD-81450B0232D8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81710E-D870-3D5C-B602-CE5AC2FE12A4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3C9F08-8328-0D0E-0B7B-F7C0F3571316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0738A0-6F24-FC4B-9894-E41622085DBD}"/>
              </a:ext>
            </a:extLst>
          </p:cNvPr>
          <p:cNvSpPr txBox="1"/>
          <p:nvPr/>
        </p:nvSpPr>
        <p:spPr>
          <a:xfrm>
            <a:off x="7115133" y="157174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</a:t>
            </a:r>
            <a:r>
              <a:rPr lang="en-US" dirty="0"/>
              <a:t>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2FDEA8-76C6-C89C-F55D-1F852922F61E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EA8BA60-491D-40E9-9091-40C4EF2297CF}"/>
              </a:ext>
            </a:extLst>
          </p:cNvPr>
          <p:cNvCxnSpPr>
            <a:cxnSpLocks/>
          </p:cNvCxnSpPr>
          <p:nvPr/>
        </p:nvCxnSpPr>
        <p:spPr>
          <a:xfrm flipV="1">
            <a:off x="6510787" y="2690728"/>
            <a:ext cx="577" cy="47950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2AB46DF-BC56-B236-391A-30BC5C3FF9C1}"/>
              </a:ext>
            </a:extLst>
          </p:cNvPr>
          <p:cNvCxnSpPr>
            <a:cxnSpLocks/>
          </p:cNvCxnSpPr>
          <p:nvPr/>
        </p:nvCxnSpPr>
        <p:spPr>
          <a:xfrm>
            <a:off x="5956339" y="2690728"/>
            <a:ext cx="563140" cy="1717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3EF8009-8A1E-BFDB-18CE-C48C6077AF97}"/>
              </a:ext>
            </a:extLst>
          </p:cNvPr>
          <p:cNvSpPr txBox="1"/>
          <p:nvPr/>
        </p:nvSpPr>
        <p:spPr>
          <a:xfrm>
            <a:off x="6563881" y="2642217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f(x=1) = 1.25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5C4B81-8E1E-8780-D74B-A616547E49C5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ACB4024-5EAF-E7A7-7C2A-330E08FE0BCF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17F003E-AD64-AC33-418D-0723DFB8DBA8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f(x=1+4)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863EDF7-016E-DFB1-A177-BE478AC4660B}"/>
              </a:ext>
            </a:extLst>
          </p:cNvPr>
          <p:cNvCxnSpPr>
            <a:cxnSpLocks/>
          </p:cNvCxnSpPr>
          <p:nvPr/>
        </p:nvCxnSpPr>
        <p:spPr>
          <a:xfrm>
            <a:off x="6494879" y="3884319"/>
            <a:ext cx="1385679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7F0FCF-EDD5-B23E-8C31-7EF120FFADB1}"/>
              </a:ext>
            </a:extLst>
          </p:cNvPr>
          <p:cNvSpPr txBox="1"/>
          <p:nvPr/>
        </p:nvSpPr>
        <p:spPr>
          <a:xfrm>
            <a:off x="7035493" y="39475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65B480-A0BF-4E67-C5B5-03369938E193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26433C9-A69D-4299-4883-B7DDC3E55F2E}"/>
              </a:ext>
            </a:extLst>
          </p:cNvPr>
          <p:cNvSpPr txBox="1"/>
          <p:nvPr/>
        </p:nvSpPr>
        <p:spPr>
          <a:xfrm>
            <a:off x="9781563" y="1756406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f(1+4)-f(1)=4.75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AE82974-47F0-F721-79E3-BE40781A422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E64FF88-3BDB-1913-78E5-3587C5AB283C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D725018-B5F6-1293-6931-7E8A5D32578C}"/>
              </a:ext>
            </a:extLst>
          </p:cNvPr>
          <p:cNvSpPr txBox="1"/>
          <p:nvPr/>
        </p:nvSpPr>
        <p:spPr>
          <a:xfrm>
            <a:off x="8850385" y="465589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(f(1+4)-f(1)) / 4 = 1.2</a:t>
            </a:r>
          </a:p>
        </p:txBody>
      </p:sp>
    </p:spTree>
    <p:extLst>
      <p:ext uri="{BB962C8B-B14F-4D97-AF65-F5344CB8AC3E}">
        <p14:creationId xmlns:p14="http://schemas.microsoft.com/office/powerpoint/2010/main" val="383529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3" grpId="0"/>
      <p:bldP spid="43" grpId="0"/>
      <p:bldP spid="55" grpId="0"/>
      <p:bldP spid="59" grpId="0"/>
      <p:bldP spid="63" grpId="0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601B-2554-6A96-DE4B-5AEF641C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8B62C1-ADED-0082-C26C-4D27A56A04BA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AA44EC-221B-1098-7EF3-61982711799B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25A0B9-B75F-6B42-9D09-9B1ACB5D8A5C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FF1DA-31FC-4AB3-4359-84CD11A1342C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3D4521A-2377-D27A-5A2D-2B778987C3F1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AFADB-AA0A-9DC9-B234-51B8714BB1A3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74A0D-34CF-D7E0-D507-4E88FB6E88B2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BFD194-71C2-96EF-ACB3-49DA4DC8774C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3B4C65-9E6F-929F-4556-0841A2F26797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AE07C2-D21C-203B-106C-74117F3E2EE9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6C5E8-423B-CDBB-2BFF-B0BAC209AF6E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2E4D7-B1F2-E1BC-A3B0-CE86D2F24D7C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A79EA0-5457-D3FC-6EAC-F994AF8F4BA9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09FA8A-D21D-261B-1FDB-E62CC3556FFC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896050-16CD-8F43-1CDC-E7008ABF8F56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66D150-FA81-ED8B-4590-B988743DB7FE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25AE33-1C0D-6251-A744-BBC300DE54BF}"/>
              </a:ext>
            </a:extLst>
          </p:cNvPr>
          <p:cNvSpPr txBox="1"/>
          <p:nvPr/>
        </p:nvSpPr>
        <p:spPr>
          <a:xfrm>
            <a:off x="7115133" y="157174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16F9D7-2F6A-9E5A-5650-6C50CE032959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63030A-BE3D-5EC5-3558-BE3C4AAFBB76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95B57F-7ED2-02B1-35FE-3F7415B5E471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19BD0B2-E574-25BD-27BE-CB7ABABE47C9}"/>
              </a:ext>
            </a:extLst>
          </p:cNvPr>
          <p:cNvSpPr txBox="1"/>
          <p:nvPr/>
        </p:nvSpPr>
        <p:spPr>
          <a:xfrm>
            <a:off x="6835019" y="266591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f(x=2) = 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16F4D6-07FA-45C4-7DBB-A5F273308B7C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00320FF-4FED-5512-2FCA-74FEB2E7FB05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112AAD6-2483-D6CA-DCF6-724915FB87BA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f(x=2+3)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758B50E-915A-ECC2-A95E-79981FF5893B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221C412-4CF6-5D82-5570-85A022C40A20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13A8FF3-62EC-906E-8779-5DE48CB4DCEF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099D0F8-7918-5596-80A7-14BBD5DC7978}"/>
              </a:ext>
            </a:extLst>
          </p:cNvPr>
          <p:cNvSpPr txBox="1"/>
          <p:nvPr/>
        </p:nvSpPr>
        <p:spPr>
          <a:xfrm>
            <a:off x="9781563" y="1756406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f(2+3)-f(2)=4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C40C762-1167-5F3B-C97F-66908A821168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299E2C7-618B-AC8F-7E77-64407BAC8474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2C01F4-7996-6231-3FB3-D26A3F1F6F1A}"/>
              </a:ext>
            </a:extLst>
          </p:cNvPr>
          <p:cNvSpPr txBox="1"/>
          <p:nvPr/>
        </p:nvSpPr>
        <p:spPr>
          <a:xfrm>
            <a:off x="8850385" y="465589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(f(2+3)-f(2)) / 3 = 1.2</a:t>
            </a:r>
          </a:p>
        </p:txBody>
      </p:sp>
    </p:spTree>
    <p:extLst>
      <p:ext uri="{BB962C8B-B14F-4D97-AF65-F5344CB8AC3E}">
        <p14:creationId xmlns:p14="http://schemas.microsoft.com/office/powerpoint/2010/main" val="315366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31D1D8-0418-7D51-65D6-5F5951BC0441}"/>
              </a:ext>
            </a:extLst>
          </p:cNvPr>
          <p:cNvCxnSpPr>
            <a:cxnSpLocks/>
          </p:cNvCxnSpPr>
          <p:nvPr/>
        </p:nvCxnSpPr>
        <p:spPr>
          <a:xfrm>
            <a:off x="4025188" y="496409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A4BFE9-EC7D-A106-4F7A-AF9CA0CA8931}"/>
              </a:ext>
            </a:extLst>
          </p:cNvPr>
          <p:cNvCxnSpPr>
            <a:cxnSpLocks/>
          </p:cNvCxnSpPr>
          <p:nvPr/>
        </p:nvCxnSpPr>
        <p:spPr>
          <a:xfrm>
            <a:off x="1384183" y="3144824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>
            <a:extLst>
              <a:ext uri="{FF2B5EF4-FFF2-40B4-BE49-F238E27FC236}">
                <a16:creationId xmlns:a16="http://schemas.microsoft.com/office/drawing/2014/main" id="{107C7FF6-0246-9798-3BFF-5F72BC3298B6}"/>
              </a:ext>
            </a:extLst>
          </p:cNvPr>
          <p:cNvSpPr/>
          <p:nvPr/>
        </p:nvSpPr>
        <p:spPr>
          <a:xfrm rot="5028370">
            <a:off x="2851068" y="-490747"/>
            <a:ext cx="2996581" cy="329184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AFBFE-BC9B-D7C8-E116-79E339AB4087}"/>
              </a:ext>
            </a:extLst>
          </p:cNvPr>
          <p:cNvCxnSpPr>
            <a:cxnSpLocks/>
          </p:cNvCxnSpPr>
          <p:nvPr/>
        </p:nvCxnSpPr>
        <p:spPr>
          <a:xfrm flipV="1">
            <a:off x="4060425" y="496409"/>
            <a:ext cx="3405775" cy="2648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029A4B-4B75-C6BF-F498-DB92D176699A}"/>
              </a:ext>
            </a:extLst>
          </p:cNvPr>
          <p:cNvSpPr txBox="1"/>
          <p:nvPr/>
        </p:nvSpPr>
        <p:spPr>
          <a:xfrm>
            <a:off x="5512282" y="11578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D8AAE-65E1-ED19-F5EB-CF1F82506952}"/>
              </a:ext>
            </a:extLst>
          </p:cNvPr>
          <p:cNvSpPr txBox="1"/>
          <p:nvPr/>
        </p:nvSpPr>
        <p:spPr>
          <a:xfrm>
            <a:off x="6450399" y="62063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1.0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02E9718-80EC-F4D0-43AA-6AF497710FCD}"/>
              </a:ext>
            </a:extLst>
          </p:cNvPr>
          <p:cNvSpPr/>
          <p:nvPr/>
        </p:nvSpPr>
        <p:spPr>
          <a:xfrm rot="15864794">
            <a:off x="5921790" y="1096899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903AB-1216-4A2B-4D7F-979BB95B5178}"/>
              </a:ext>
            </a:extLst>
          </p:cNvPr>
          <p:cNvSpPr txBox="1"/>
          <p:nvPr/>
        </p:nvSpPr>
        <p:spPr>
          <a:xfrm>
            <a:off x="7237705" y="98996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0.8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A3729D-E878-E160-B311-8E03774AF082}"/>
              </a:ext>
            </a:extLst>
          </p:cNvPr>
          <p:cNvSpPr/>
          <p:nvPr/>
        </p:nvSpPr>
        <p:spPr>
          <a:xfrm>
            <a:off x="854373" y="5435374"/>
            <a:ext cx="10189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 | 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Slope | Gradient</a:t>
            </a:r>
          </a:p>
        </p:txBody>
      </p:sp>
    </p:spTree>
    <p:extLst>
      <p:ext uri="{BB962C8B-B14F-4D97-AF65-F5344CB8AC3E}">
        <p14:creationId xmlns:p14="http://schemas.microsoft.com/office/powerpoint/2010/main" val="14987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F6A8-B5FB-D8A1-4060-4768A0B1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4DFFDB-2A06-2A16-EABC-C187CC495213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DB7BFD-044E-1CAD-D082-F934E259BBE3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FDD6E5-179C-588D-CA73-7203188E0523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8B116-5685-F896-6F4A-E72744408294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171EF96E-BFF4-6CC3-EDA0-5730D6C43872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3D716-CCDE-C93A-F914-8F70D634E598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3433BC-4B2A-E509-4539-5AAD8CC22C64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E48F2-723B-2CFB-C412-D3D7550123C0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16BD0-79EE-6576-5C09-184C272CE0AB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07AA08-8C0F-B648-8159-7D1768FC204F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946B8-98AA-F79C-494A-20E7305E5A30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B04072-644F-CD61-08D2-C24B3BF431D1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D4692-D33C-88EF-43D6-B56E5373227A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E8E44B-3B1D-F32D-9005-8FECE09AA92F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B2C12-1A34-087F-B2E9-E89E4F04199B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65136-2DFD-8F8C-6A14-609732721474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9D846B-CFE8-5F74-58B6-3488B23EC818}"/>
              </a:ext>
            </a:extLst>
          </p:cNvPr>
          <p:cNvSpPr txBox="1"/>
          <p:nvPr/>
        </p:nvSpPr>
        <p:spPr>
          <a:xfrm>
            <a:off x="7115133" y="157174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43B7AA-A5C9-9D51-7BCE-B43D186ACF5B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6BCCFF-2881-8150-399D-91F450E52CEF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6A3714-B9D4-DFC2-B78F-63A8153827D6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6FF693-AC4D-E75B-A2B0-81AA64D6D408}"/>
              </a:ext>
            </a:extLst>
          </p:cNvPr>
          <p:cNvSpPr txBox="1"/>
          <p:nvPr/>
        </p:nvSpPr>
        <p:spPr>
          <a:xfrm>
            <a:off x="6835019" y="266591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f(x=2) = 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D25382D-B357-9670-3CA5-DE9EBED7F679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077A17-A389-4A4B-16D6-18A03A2E1663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97CDBD9-E1C2-8CA2-4233-D82478EC5ADE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f(x=2+3)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66C46C-FE42-F166-DBEF-9737EA95DEF8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080D098-5A23-20C9-D6E9-08DF6E068781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AB29CD0-7531-F843-AE96-597DAA09F611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97DE846-87B0-6416-BD8F-61F98611768D}"/>
              </a:ext>
            </a:extLst>
          </p:cNvPr>
          <p:cNvSpPr txBox="1"/>
          <p:nvPr/>
        </p:nvSpPr>
        <p:spPr>
          <a:xfrm>
            <a:off x="9781563" y="1756406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f(2+3)-f(2)=4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CE9E1F-1C61-1DFF-4A92-A5402766DEFB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C6FCA83-6399-AAC7-AFC2-C60751EF01E9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3A1F83-69E8-57B5-DD33-F95B2ECF269D}"/>
              </a:ext>
            </a:extLst>
          </p:cNvPr>
          <p:cNvSpPr txBox="1"/>
          <p:nvPr/>
        </p:nvSpPr>
        <p:spPr>
          <a:xfrm>
            <a:off x="8850385" y="4655890"/>
            <a:ext cx="2906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(f(2+3)-f(2)) / (5 – 2) = 1.2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6A2E8-68FB-EF00-8BA9-58A3A255A464}"/>
              </a:ext>
            </a:extLst>
          </p:cNvPr>
          <p:cNvSpPr/>
          <p:nvPr/>
        </p:nvSpPr>
        <p:spPr>
          <a:xfrm>
            <a:off x="1174472" y="5474534"/>
            <a:ext cx="697402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LET’s GENERALIZE</a:t>
            </a:r>
          </a:p>
        </p:txBody>
      </p:sp>
    </p:spTree>
    <p:extLst>
      <p:ext uri="{BB962C8B-B14F-4D97-AF65-F5344CB8AC3E}">
        <p14:creationId xmlns:p14="http://schemas.microsoft.com/office/powerpoint/2010/main" val="214341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2B39-A296-1DD8-EF8B-DB03B01B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E41960-646B-30E5-34D0-5EEF0217D3EF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975050-8E3F-BA7B-D4F3-7D38084DCAC2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854286D-76A0-9734-7FFE-BB1B21628FE6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1785F-67A8-6640-6663-9835F06E187F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06600E9-8124-2A2F-7E7B-EEA1DF6C13C4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82B88-C1F5-82F5-EFE9-A0475CA834DB}"/>
              </a:ext>
            </a:extLst>
          </p:cNvPr>
          <p:cNvSpPr txBox="1"/>
          <p:nvPr/>
        </p:nvSpPr>
        <p:spPr>
          <a:xfrm>
            <a:off x="6915948" y="145298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</a:t>
            </a:r>
            <a:r>
              <a:rPr lang="en-US" dirty="0"/>
              <a:t>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D5B2AD-654D-A41C-1849-5ED79FCB3676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E13DF0-616E-15A3-1525-D9BBD8065004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A668B3-6FE8-541A-7BBA-9DFA9C137F26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526A242-9DA4-5AFB-B57B-EC396BC0A8B3}"/>
              </a:ext>
            </a:extLst>
          </p:cNvPr>
          <p:cNvSpPr txBox="1"/>
          <p:nvPr/>
        </p:nvSpPr>
        <p:spPr>
          <a:xfrm>
            <a:off x="6835019" y="2665912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f(x=x) = f(x)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83F44B-8FCF-22EE-1DAC-19E4F76F0147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1FF8EDA-0D96-A575-A3DD-AE6C28D46C2F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B05C2C7-0FA5-9339-49E5-8C97CA6B74B4}"/>
              </a:ext>
            </a:extLst>
          </p:cNvPr>
          <p:cNvSpPr txBox="1"/>
          <p:nvPr/>
        </p:nvSpPr>
        <p:spPr>
          <a:xfrm>
            <a:off x="7959349" y="1756406"/>
            <a:ext cx="1834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f(x=</a:t>
            </a:r>
            <a:r>
              <a:rPr lang="en-US" sz="1600" dirty="0" err="1">
                <a:solidFill>
                  <a:srgbClr val="C00000"/>
                </a:solidFill>
              </a:rPr>
              <a:t>x+h</a:t>
            </a:r>
            <a:r>
              <a:rPr lang="en-US" sz="1600" dirty="0">
                <a:solidFill>
                  <a:srgbClr val="C00000"/>
                </a:solidFill>
              </a:rPr>
              <a:t>) = f(</a:t>
            </a:r>
            <a:r>
              <a:rPr lang="en-US" sz="1600" dirty="0" err="1">
                <a:solidFill>
                  <a:srgbClr val="C00000"/>
                </a:solidFill>
              </a:rPr>
              <a:t>x+h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BF99A5-5975-68E3-C987-1A788BFC6636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158EB35-467C-E2D5-0D26-2793DB93592D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E3B761-E4CF-9306-35B2-E8ADC50F08BC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2926D47-6100-DA8C-A833-BC1B877300DE}"/>
              </a:ext>
            </a:extLst>
          </p:cNvPr>
          <p:cNvSpPr txBox="1"/>
          <p:nvPr/>
        </p:nvSpPr>
        <p:spPr>
          <a:xfrm>
            <a:off x="9781563" y="175640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</a:t>
            </a:r>
            <a:r>
              <a:rPr lang="en-US" dirty="0" err="1">
                <a:solidFill>
                  <a:srgbClr val="00B050"/>
                </a:solidFill>
              </a:rPr>
              <a:t>x+h</a:t>
            </a:r>
            <a:r>
              <a:rPr lang="en-US" dirty="0">
                <a:solidFill>
                  <a:srgbClr val="00B050"/>
                </a:solidFill>
              </a:rPr>
              <a:t>)-f(x)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932D857-E437-3DB4-9F03-ED9028296E07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569027F-1B0F-8F1C-1A61-564AF27ED842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6DA3EA-111B-8AF2-CFCC-B77C59647C03}"/>
              </a:ext>
            </a:extLst>
          </p:cNvPr>
          <p:cNvSpPr txBox="1"/>
          <p:nvPr/>
        </p:nvSpPr>
        <p:spPr>
          <a:xfrm>
            <a:off x="7569355" y="4907559"/>
            <a:ext cx="40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SLOPE|GRADIENT = (f(</a:t>
            </a:r>
            <a:r>
              <a:rPr lang="en-US" dirty="0" err="1">
                <a:solidFill>
                  <a:srgbClr val="00B0F0"/>
                </a:solidFill>
              </a:rPr>
              <a:t>x+h</a:t>
            </a:r>
            <a:r>
              <a:rPr lang="en-US" dirty="0">
                <a:solidFill>
                  <a:srgbClr val="00B0F0"/>
                </a:solidFill>
              </a:rPr>
              <a:t>)-f(x)) / h</a:t>
            </a:r>
          </a:p>
        </p:txBody>
      </p:sp>
    </p:spTree>
    <p:extLst>
      <p:ext uri="{BB962C8B-B14F-4D97-AF65-F5344CB8AC3E}">
        <p14:creationId xmlns:p14="http://schemas.microsoft.com/office/powerpoint/2010/main" val="221907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9DF2-B42D-3E8B-D79B-EC9AAA08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7BC397-27AD-EE21-4D42-009B5E3BD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005975"/>
          </a:xfrm>
        </p:spPr>
        <p:txBody>
          <a:bodyPr/>
          <a:lstStyle/>
          <a:p>
            <a:r>
              <a:rPr lang="en-US" dirty="0"/>
              <a:t>If we changed the function with some ‘h’, how will the output change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B6EB139-7663-8A4F-4AA0-3BF35E73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4088890" y="3037766"/>
            <a:ext cx="3784612" cy="15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1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8C26-0F49-A9F4-9B49-CBE3488B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228904"/>
            <a:ext cx="3446477" cy="512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/dx </a:t>
            </a:r>
            <a:r>
              <a:rPr lang="en-US" sz="2800" dirty="0"/>
              <a:t>= 2*h / h = 2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95D54EB-6794-4A71-3548-0F120E6D9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D2FBC5-C1E4-38F4-2BD6-810E35CE3CB0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f(x) = 2 * x + 4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15B3C-4D43-AA33-D102-466F1D44EF34}"/>
              </a:ext>
            </a:extLst>
          </p:cNvPr>
          <p:cNvSpPr txBox="1"/>
          <p:nvPr/>
        </p:nvSpPr>
        <p:spPr>
          <a:xfrm>
            <a:off x="5097709" y="5217952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C37BA-CA29-AB9E-A3B0-CDF6E285F010}"/>
              </a:ext>
            </a:extLst>
          </p:cNvPr>
          <p:cNvSpPr txBox="1"/>
          <p:nvPr/>
        </p:nvSpPr>
        <p:spPr>
          <a:xfrm>
            <a:off x="1057012" y="2214694"/>
            <a:ext cx="372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f(</a:t>
            </a:r>
            <a:r>
              <a:rPr lang="en-US" sz="2800" dirty="0" err="1"/>
              <a:t>x+h</a:t>
            </a:r>
            <a:r>
              <a:rPr lang="en-US" sz="2800" dirty="0"/>
              <a:t>) = 2 * (</a:t>
            </a:r>
            <a:r>
              <a:rPr lang="en-US" sz="2800" dirty="0" err="1"/>
              <a:t>x+h</a:t>
            </a:r>
            <a:r>
              <a:rPr lang="en-US" sz="2800" dirty="0"/>
              <a:t>) + 4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37EE4-0CC6-F78B-0A68-F52F04D140E0}"/>
              </a:ext>
            </a:extLst>
          </p:cNvPr>
          <p:cNvSpPr txBox="1"/>
          <p:nvPr/>
        </p:nvSpPr>
        <p:spPr>
          <a:xfrm>
            <a:off x="1066800" y="3002719"/>
            <a:ext cx="372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(f(</a:t>
            </a:r>
            <a:r>
              <a:rPr lang="en-US" sz="2800" dirty="0" err="1"/>
              <a:t>x+h</a:t>
            </a:r>
            <a:r>
              <a:rPr lang="en-US" sz="2800" dirty="0"/>
              <a:t>) – f(x)) / h</a:t>
            </a:r>
            <a:endParaRPr lang="en-US" sz="4000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6EC6C0-44BF-5CA5-43A2-385943FBE0C6}"/>
              </a:ext>
            </a:extLst>
          </p:cNvPr>
          <p:cNvSpPr txBox="1"/>
          <p:nvPr/>
        </p:nvSpPr>
        <p:spPr>
          <a:xfrm>
            <a:off x="956346" y="3966983"/>
            <a:ext cx="4840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(2*(</a:t>
            </a:r>
            <a:r>
              <a:rPr lang="en-US" sz="2800" dirty="0" err="1"/>
              <a:t>x+h</a:t>
            </a:r>
            <a:r>
              <a:rPr lang="en-US" sz="2800" dirty="0"/>
              <a:t>) + 4 – (2*x+4)) / 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7BE4B-A43B-3FFC-AA40-6FBC27B4F19A}"/>
              </a:ext>
            </a:extLst>
          </p:cNvPr>
          <p:cNvSpPr txBox="1"/>
          <p:nvPr/>
        </p:nvSpPr>
        <p:spPr>
          <a:xfrm>
            <a:off x="956346" y="4597943"/>
            <a:ext cx="4731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strike="sngStrike" dirty="0"/>
              <a:t>2*x</a:t>
            </a:r>
            <a:r>
              <a:rPr lang="en-US" sz="2800" dirty="0"/>
              <a:t> + 2*h + </a:t>
            </a:r>
            <a:r>
              <a:rPr lang="en-US" sz="2800" strike="sngStrike" dirty="0"/>
              <a:t>4</a:t>
            </a:r>
            <a:r>
              <a:rPr lang="en-US" sz="2800" dirty="0"/>
              <a:t> – </a:t>
            </a:r>
            <a:r>
              <a:rPr lang="en-US" sz="2800" strike="sngStrike" dirty="0"/>
              <a:t>2*x</a:t>
            </a:r>
            <a:r>
              <a:rPr lang="en-US" sz="2800" dirty="0"/>
              <a:t> – </a:t>
            </a:r>
            <a:r>
              <a:rPr lang="en-US" sz="2800" strike="sngStrike" dirty="0"/>
              <a:t>4</a:t>
            </a:r>
            <a:r>
              <a:rPr lang="en-US" sz="2800" dirty="0"/>
              <a:t>) / h</a:t>
            </a:r>
          </a:p>
        </p:txBody>
      </p:sp>
    </p:spTree>
    <p:extLst>
      <p:ext uri="{BB962C8B-B14F-4D97-AF65-F5344CB8AC3E}">
        <p14:creationId xmlns:p14="http://schemas.microsoft.com/office/powerpoint/2010/main" val="377014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31D8-BB8F-E833-E5F3-13166737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43B9-0741-BC58-CEA6-72CB4517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16577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f(</a:t>
            </a:r>
            <a:r>
              <a:rPr lang="en-US" sz="2800" dirty="0" err="1"/>
              <a:t>a+h</a:t>
            </a:r>
            <a:r>
              <a:rPr lang="en-US" sz="2800" dirty="0"/>
              <a:t>, b, c) = (</a:t>
            </a:r>
            <a:r>
              <a:rPr lang="en-US" sz="2800" dirty="0" err="1"/>
              <a:t>a+h</a:t>
            </a:r>
            <a:r>
              <a:rPr lang="en-US" sz="2800" dirty="0"/>
              <a:t>) * b + c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(f(</a:t>
            </a:r>
            <a:r>
              <a:rPr lang="en-US" sz="2800" dirty="0" err="1"/>
              <a:t>a+h</a:t>
            </a:r>
            <a:r>
              <a:rPr lang="en-US" sz="2800" dirty="0"/>
              <a:t>, b, c) – f(a, b, c)) / h</a:t>
            </a:r>
          </a:p>
          <a:p>
            <a:pPr marL="0" indent="0">
              <a:buNone/>
            </a:pPr>
            <a:r>
              <a:rPr lang="en-US" sz="2800" dirty="0"/>
              <a:t>((</a:t>
            </a:r>
            <a:r>
              <a:rPr lang="en-US" sz="2800" dirty="0" err="1"/>
              <a:t>a+h</a:t>
            </a:r>
            <a:r>
              <a:rPr lang="en-US" sz="2800" dirty="0"/>
              <a:t>) * b + c – (a*b + c)) / h</a:t>
            </a:r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strike="sngStrike" dirty="0"/>
              <a:t>a*b</a:t>
            </a:r>
            <a:r>
              <a:rPr lang="en-US" sz="2800" dirty="0"/>
              <a:t> + h*b + </a:t>
            </a:r>
            <a:r>
              <a:rPr lang="en-US" sz="2800" strike="sngStrike" dirty="0"/>
              <a:t>c</a:t>
            </a:r>
            <a:r>
              <a:rPr lang="en-US" sz="2800" dirty="0"/>
              <a:t> – </a:t>
            </a:r>
            <a:r>
              <a:rPr lang="en-US" sz="2800" strike="sngStrike" dirty="0"/>
              <a:t>a*b</a:t>
            </a:r>
            <a:r>
              <a:rPr lang="en-US" sz="2800" dirty="0"/>
              <a:t> – </a:t>
            </a:r>
            <a:r>
              <a:rPr lang="en-US" sz="2800" strike="sngStrike" dirty="0"/>
              <a:t>c</a:t>
            </a:r>
            <a:r>
              <a:rPr lang="en-US" sz="2800" dirty="0"/>
              <a:t>) / h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/da</a:t>
            </a:r>
            <a:r>
              <a:rPr lang="en-US" sz="2800" dirty="0"/>
              <a:t> = h*b / h = b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3EEAB43-7C32-6BDB-08FB-CE7F677C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7C5BF-00E5-0937-6DC4-7878FE8B8361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f(a, b, c) = a * b + c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DD594-7ADA-E5A0-3F7F-FDB5FEB70227}"/>
              </a:ext>
            </a:extLst>
          </p:cNvPr>
          <p:cNvSpPr txBox="1"/>
          <p:nvPr/>
        </p:nvSpPr>
        <p:spPr>
          <a:xfrm>
            <a:off x="5097709" y="5217952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a</a:t>
            </a:r>
          </a:p>
        </p:txBody>
      </p:sp>
    </p:spTree>
    <p:extLst>
      <p:ext uri="{BB962C8B-B14F-4D97-AF65-F5344CB8AC3E}">
        <p14:creationId xmlns:p14="http://schemas.microsoft.com/office/powerpoint/2010/main" val="59128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Backpropagation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7F3A0-AE2E-849F-AD0F-C520F431F468}"/>
              </a:ext>
            </a:extLst>
          </p:cNvPr>
          <p:cNvSpPr txBox="1"/>
          <p:nvPr/>
        </p:nvSpPr>
        <p:spPr>
          <a:xfrm>
            <a:off x="4748168" y="3982417"/>
            <a:ext cx="1895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😨</a:t>
            </a:r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2828</TotalTime>
  <Words>474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Wood Type</vt:lpstr>
      <vt:lpstr>Derivative | slope |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</vt:lpstr>
      <vt:lpstr>PowerPoint Presentation</vt:lpstr>
      <vt:lpstr>PowerPoint Presentation</vt:lpstr>
      <vt:lpstr>NEXT…Backpropagation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6</cp:revision>
  <dcterms:created xsi:type="dcterms:W3CDTF">2026-02-23T12:43:32Z</dcterms:created>
  <dcterms:modified xsi:type="dcterms:W3CDTF">2026-02-25T11:52:19Z</dcterms:modified>
</cp:coreProperties>
</file>
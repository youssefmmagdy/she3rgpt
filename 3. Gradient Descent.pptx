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82" r:id="rId3"/>
    <p:sldId id="286" r:id="rId4"/>
    <p:sldId id="283" r:id="rId5"/>
    <p:sldId id="284" r:id="rId6"/>
    <p:sldId id="285" r:id="rId7"/>
    <p:sldId id="287" r:id="rId8"/>
    <p:sldId id="288" r:id="rId9"/>
    <p:sldId id="289" r:id="rId10"/>
    <p:sldId id="290" r:id="rId11"/>
    <p:sldId id="291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1" autoAdjust="0"/>
    <p:restoredTop sz="94660"/>
  </p:normalViewPr>
  <p:slideViewPr>
    <p:cSldViewPr snapToGrid="0">
      <p:cViewPr varScale="1">
        <p:scale>
          <a:sx n="76" d="100"/>
          <a:sy n="76" d="100"/>
        </p:scale>
        <p:origin x="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2/24/2026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2/24/2026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E100C-EB44-5AC0-0DEC-B0D2B5C78F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Gradient descent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317F4-EFED-22E2-F72F-2BF00B7F98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310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AB666-2F8B-D927-96CD-8799683EF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2EBA6A4-ABD8-356D-562B-FE59D067A8F9}"/>
              </a:ext>
            </a:extLst>
          </p:cNvPr>
          <p:cNvSpPr txBox="1"/>
          <p:nvPr/>
        </p:nvSpPr>
        <p:spPr>
          <a:xfrm>
            <a:off x="774583" y="3770582"/>
            <a:ext cx="7273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/dg * dg/dw1 = -10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CFAD32-2CE1-7538-7CE4-AF5C9FBA5104}"/>
              </a:ext>
            </a:extLst>
          </p:cNvPr>
          <p:cNvSpPr txBox="1"/>
          <p:nvPr/>
        </p:nvSpPr>
        <p:spPr>
          <a:xfrm>
            <a:off x="774583" y="4293802"/>
            <a:ext cx="76172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dw2 = </a:t>
            </a:r>
            <a:r>
              <a:rPr lang="en-US" sz="2800" dirty="0" err="1"/>
              <a:t>dz</a:t>
            </a:r>
            <a:r>
              <a:rPr lang="en-US" sz="2800" dirty="0"/>
              <a:t>/</a:t>
            </a:r>
            <a:r>
              <a:rPr lang="en-US" sz="2800" dirty="0" err="1"/>
              <a:t>dy</a:t>
            </a:r>
            <a:r>
              <a:rPr lang="en-US" sz="2800" dirty="0"/>
              <a:t> * </a:t>
            </a:r>
            <a:r>
              <a:rPr lang="en-US" sz="2800" dirty="0" err="1"/>
              <a:t>dy</a:t>
            </a:r>
            <a:r>
              <a:rPr lang="en-US" sz="2800" dirty="0"/>
              <a:t>/dw2 = w3 * 1 = w3 = 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863C02-2206-23CD-826C-90AD2A8E7507}"/>
              </a:ext>
            </a:extLst>
          </p:cNvPr>
          <p:cNvSpPr txBox="1"/>
          <p:nvPr/>
        </p:nvSpPr>
        <p:spPr>
          <a:xfrm>
            <a:off x="728448" y="4829329"/>
            <a:ext cx="83491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dw3 = y = w2 + g = w2 - 2*w1 = 4 - 2*3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02FF36E-7C36-7FB5-0DF6-3A844EB407A2}"/>
              </a:ext>
            </a:extLst>
          </p:cNvPr>
          <p:cNvSpPr txBox="1"/>
          <p:nvPr/>
        </p:nvSpPr>
        <p:spPr>
          <a:xfrm>
            <a:off x="774583" y="5712903"/>
            <a:ext cx="699362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accent6">
                    <a:lumMod val="75000"/>
                  </a:schemeClr>
                </a:solidFill>
              </a:rPr>
              <a:t>Gradient Descent STARTS…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C9F14ED-B266-D60E-7D2B-05171D78C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83" y="2207674"/>
            <a:ext cx="4236441" cy="53388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z = (w2 + -2*w1)*w3</a:t>
            </a:r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28524E0C-0AD0-7ECB-03DF-B5C371C2AE4D}"/>
              </a:ext>
            </a:extLst>
          </p:cNvPr>
          <p:cNvSpPr/>
          <p:nvPr/>
        </p:nvSpPr>
        <p:spPr>
          <a:xfrm>
            <a:off x="4189605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32582A3-7807-7BCB-BB8B-E2D57DFCECD8}"/>
              </a:ext>
            </a:extLst>
          </p:cNvPr>
          <p:cNvSpPr/>
          <p:nvPr/>
        </p:nvSpPr>
        <p:spPr>
          <a:xfrm>
            <a:off x="5558409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86D19777-903C-DE0E-739B-A6E9F2A67BF4}"/>
              </a:ext>
            </a:extLst>
          </p:cNvPr>
          <p:cNvSpPr/>
          <p:nvPr/>
        </p:nvSpPr>
        <p:spPr>
          <a:xfrm>
            <a:off x="6927213" y="412201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30B209-EB90-7155-072D-90DB7D22D8C5}"/>
              </a:ext>
            </a:extLst>
          </p:cNvPr>
          <p:cNvCxnSpPr>
            <a:cxnSpLocks/>
            <a:stCxn id="31" idx="6"/>
            <a:endCxn id="32" idx="2"/>
          </p:cNvCxnSpPr>
          <p:nvPr/>
        </p:nvCxnSpPr>
        <p:spPr>
          <a:xfrm>
            <a:off x="4969781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C4AC85-25C9-8C3F-1D6F-749583E9E8BA}"/>
              </a:ext>
            </a:extLst>
          </p:cNvPr>
          <p:cNvCxnSpPr>
            <a:cxnSpLocks/>
            <a:stCxn id="32" idx="6"/>
            <a:endCxn id="33" idx="2"/>
          </p:cNvCxnSpPr>
          <p:nvPr/>
        </p:nvCxnSpPr>
        <p:spPr>
          <a:xfrm>
            <a:off x="6338585" y="712108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324EA36A-823F-14FF-973C-916800E762CE}"/>
              </a:ext>
            </a:extLst>
          </p:cNvPr>
          <p:cNvSpPr txBox="1"/>
          <p:nvPr/>
        </p:nvSpPr>
        <p:spPr>
          <a:xfrm>
            <a:off x="9096464" y="2134869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EA22C12-1823-F331-6027-B99517F24B46}"/>
              </a:ext>
            </a:extLst>
          </p:cNvPr>
          <p:cNvSpPr txBox="1"/>
          <p:nvPr/>
        </p:nvSpPr>
        <p:spPr>
          <a:xfrm>
            <a:off x="9053821" y="356199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126855-4E9F-185A-7E15-2F409C5630CF}"/>
              </a:ext>
            </a:extLst>
          </p:cNvPr>
          <p:cNvSpPr txBox="1"/>
          <p:nvPr/>
        </p:nvSpPr>
        <p:spPr>
          <a:xfrm>
            <a:off x="9053821" y="904670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08A121-DA31-77A7-1CBF-6E77BED2EF2F}"/>
              </a:ext>
            </a:extLst>
          </p:cNvPr>
          <p:cNvSpPr txBox="1"/>
          <p:nvPr/>
        </p:nvSpPr>
        <p:spPr>
          <a:xfrm>
            <a:off x="9096464" y="1483513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15D5B1B-B48F-C2BC-8329-78FCB0CB6C92}"/>
              </a:ext>
            </a:extLst>
          </p:cNvPr>
          <p:cNvSpPr txBox="1"/>
          <p:nvPr/>
        </p:nvSpPr>
        <p:spPr>
          <a:xfrm>
            <a:off x="1216405" y="503339"/>
            <a:ext cx="27998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349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E6C75A5-F4B8-415F-B4EA-A9AD45087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3D9CC178-C06A-480F-AAFC-127638C298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7235C6D-8D65-4BC6-AE0E-523AB3C8D5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F7B806C-5F25-AF5D-0DB4-1CAA87E742A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212" r="5863" b="-1"/>
          <a:stretch>
            <a:fillRect/>
          </a:stretch>
        </p:blipFill>
        <p:spPr>
          <a:xfrm>
            <a:off x="641684" y="2005"/>
            <a:ext cx="10908632" cy="6853991"/>
          </a:xfrm>
          <a:custGeom>
            <a:avLst/>
            <a:gdLst/>
            <a:ahLst/>
            <a:cxnLst/>
            <a:rect l="l" t="t" r="r" b="b"/>
            <a:pathLst>
              <a:path w="10908632" h="6853991">
                <a:moveTo>
                  <a:pt x="9059739" y="0"/>
                </a:moveTo>
                <a:lnTo>
                  <a:pt x="9694921" y="0"/>
                </a:lnTo>
                <a:lnTo>
                  <a:pt x="9825053" y="165595"/>
                </a:lnTo>
                <a:cubicBezTo>
                  <a:pt x="10505610" y="1075608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5"/>
                </a:cubicBezTo>
                <a:close/>
                <a:moveTo>
                  <a:pt x="2037822" y="0"/>
                </a:moveTo>
                <a:lnTo>
                  <a:pt x="8870810" y="0"/>
                </a:lnTo>
                <a:lnTo>
                  <a:pt x="8877212" y="6103"/>
                </a:lnTo>
                <a:cubicBezTo>
                  <a:pt x="9753207" y="882099"/>
                  <a:pt x="10295021" y="2092276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6"/>
                  <a:pt x="1155426" y="882099"/>
                  <a:pt x="2031421" y="6103"/>
                </a:cubicBezTo>
                <a:close/>
                <a:moveTo>
                  <a:pt x="1213711" y="0"/>
                </a:moveTo>
                <a:lnTo>
                  <a:pt x="1848894" y="0"/>
                </a:lnTo>
                <a:lnTo>
                  <a:pt x="1770204" y="82535"/>
                </a:lnTo>
                <a:cubicBezTo>
                  <a:pt x="966872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8"/>
                  <a:pt x="1083579" y="165595"/>
                </a:cubicBezTo>
                <a:close/>
              </a:path>
            </a:pathLst>
          </a:cu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E9FBC8E-8666-4442-8D7D-B250510CD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84" y="2005"/>
            <a:ext cx="10908632" cy="6853991"/>
          </a:xfrm>
          <a:custGeom>
            <a:avLst/>
            <a:gdLst>
              <a:gd name="connsiteX0" fmla="*/ 9059740 w 10908632"/>
              <a:gd name="connsiteY0" fmla="*/ 0 h 6853991"/>
              <a:gd name="connsiteX1" fmla="*/ 9694921 w 10908632"/>
              <a:gd name="connsiteY1" fmla="*/ 0 h 6853991"/>
              <a:gd name="connsiteX2" fmla="*/ 9825053 w 10908632"/>
              <a:gd name="connsiteY2" fmla="*/ 165594 h 6853991"/>
              <a:gd name="connsiteX3" fmla="*/ 10908632 w 10908632"/>
              <a:gd name="connsiteY3" fmla="*/ 3429000 h 6853991"/>
              <a:gd name="connsiteX4" fmla="*/ 9825053 w 10908632"/>
              <a:gd name="connsiteY4" fmla="*/ 6692406 h 6853991"/>
              <a:gd name="connsiteX5" fmla="*/ 9698072 w 10908632"/>
              <a:gd name="connsiteY5" fmla="*/ 6853991 h 6853991"/>
              <a:gd name="connsiteX6" fmla="*/ 9063562 w 10908632"/>
              <a:gd name="connsiteY6" fmla="*/ 6853991 h 6853991"/>
              <a:gd name="connsiteX7" fmla="*/ 9138428 w 10908632"/>
              <a:gd name="connsiteY7" fmla="*/ 6775466 h 6853991"/>
              <a:gd name="connsiteX8" fmla="*/ 10431379 w 10908632"/>
              <a:gd name="connsiteY8" fmla="*/ 3429000 h 6853991"/>
              <a:gd name="connsiteX9" fmla="*/ 9138428 w 10908632"/>
              <a:gd name="connsiteY9" fmla="*/ 82534 h 6853991"/>
              <a:gd name="connsiteX10" fmla="*/ 2037821 w 10908632"/>
              <a:gd name="connsiteY10" fmla="*/ 0 h 6853991"/>
              <a:gd name="connsiteX11" fmla="*/ 8870811 w 10908632"/>
              <a:gd name="connsiteY11" fmla="*/ 0 h 6853991"/>
              <a:gd name="connsiteX12" fmla="*/ 8877212 w 10908632"/>
              <a:gd name="connsiteY12" fmla="*/ 6103 h 6853991"/>
              <a:gd name="connsiteX13" fmla="*/ 10295021 w 10908632"/>
              <a:gd name="connsiteY13" fmla="*/ 3429000 h 6853991"/>
              <a:gd name="connsiteX14" fmla="*/ 8877212 w 10908632"/>
              <a:gd name="connsiteY14" fmla="*/ 6851897 h 6853991"/>
              <a:gd name="connsiteX15" fmla="*/ 8875015 w 10908632"/>
              <a:gd name="connsiteY15" fmla="*/ 6853991 h 6853991"/>
              <a:gd name="connsiteX16" fmla="*/ 2033617 w 10908632"/>
              <a:gd name="connsiteY16" fmla="*/ 6853991 h 6853991"/>
              <a:gd name="connsiteX17" fmla="*/ 2031421 w 10908632"/>
              <a:gd name="connsiteY17" fmla="*/ 6851897 h 6853991"/>
              <a:gd name="connsiteX18" fmla="*/ 613611 w 10908632"/>
              <a:gd name="connsiteY18" fmla="*/ 3429000 h 6853991"/>
              <a:gd name="connsiteX19" fmla="*/ 2031420 w 10908632"/>
              <a:gd name="connsiteY19" fmla="*/ 6103 h 6853991"/>
              <a:gd name="connsiteX20" fmla="*/ 1213711 w 10908632"/>
              <a:gd name="connsiteY20" fmla="*/ 0 h 6853991"/>
              <a:gd name="connsiteX21" fmla="*/ 1848893 w 10908632"/>
              <a:gd name="connsiteY21" fmla="*/ 0 h 6853991"/>
              <a:gd name="connsiteX22" fmla="*/ 1770204 w 10908632"/>
              <a:gd name="connsiteY22" fmla="*/ 82534 h 6853991"/>
              <a:gd name="connsiteX23" fmla="*/ 477253 w 10908632"/>
              <a:gd name="connsiteY23" fmla="*/ 3429000 h 6853991"/>
              <a:gd name="connsiteX24" fmla="*/ 1770204 w 10908632"/>
              <a:gd name="connsiteY24" fmla="*/ 6775466 h 6853991"/>
              <a:gd name="connsiteX25" fmla="*/ 1845071 w 10908632"/>
              <a:gd name="connsiteY25" fmla="*/ 6853991 h 6853991"/>
              <a:gd name="connsiteX26" fmla="*/ 1210561 w 10908632"/>
              <a:gd name="connsiteY26" fmla="*/ 6853991 h 6853991"/>
              <a:gd name="connsiteX27" fmla="*/ 1083579 w 10908632"/>
              <a:gd name="connsiteY27" fmla="*/ 6692406 h 6853991"/>
              <a:gd name="connsiteX28" fmla="*/ 0 w 10908632"/>
              <a:gd name="connsiteY28" fmla="*/ 3429000 h 6853991"/>
              <a:gd name="connsiteX29" fmla="*/ 1083579 w 10908632"/>
              <a:gd name="connsiteY29" fmla="*/ 165594 h 6853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10908632" h="6853991">
                <a:moveTo>
                  <a:pt x="9059740" y="0"/>
                </a:moveTo>
                <a:lnTo>
                  <a:pt x="9694921" y="0"/>
                </a:lnTo>
                <a:lnTo>
                  <a:pt x="9825053" y="165594"/>
                </a:lnTo>
                <a:cubicBezTo>
                  <a:pt x="10505610" y="1075607"/>
                  <a:pt x="10908632" y="2205238"/>
                  <a:pt x="10908632" y="3429000"/>
                </a:cubicBezTo>
                <a:cubicBezTo>
                  <a:pt x="10908632" y="4652762"/>
                  <a:pt x="10505610" y="5782393"/>
                  <a:pt x="9825053" y="6692406"/>
                </a:cubicBezTo>
                <a:lnTo>
                  <a:pt x="9698072" y="6853991"/>
                </a:lnTo>
                <a:lnTo>
                  <a:pt x="9063562" y="6853991"/>
                </a:lnTo>
                <a:lnTo>
                  <a:pt x="9138428" y="6775466"/>
                </a:lnTo>
                <a:cubicBezTo>
                  <a:pt x="9941761" y="5891604"/>
                  <a:pt x="10431379" y="4717480"/>
                  <a:pt x="10431379" y="3429000"/>
                </a:cubicBezTo>
                <a:cubicBezTo>
                  <a:pt x="10431379" y="2140521"/>
                  <a:pt x="9941761" y="966397"/>
                  <a:pt x="9138428" y="82534"/>
                </a:cubicBezTo>
                <a:close/>
                <a:moveTo>
                  <a:pt x="2037821" y="0"/>
                </a:moveTo>
                <a:lnTo>
                  <a:pt x="8870811" y="0"/>
                </a:lnTo>
                <a:lnTo>
                  <a:pt x="8877212" y="6103"/>
                </a:lnTo>
                <a:cubicBezTo>
                  <a:pt x="9753207" y="882099"/>
                  <a:pt x="10295021" y="2092275"/>
                  <a:pt x="10295021" y="3429000"/>
                </a:cubicBezTo>
                <a:cubicBezTo>
                  <a:pt x="10295021" y="4765725"/>
                  <a:pt x="9753207" y="5975902"/>
                  <a:pt x="8877212" y="6851897"/>
                </a:cubicBezTo>
                <a:lnTo>
                  <a:pt x="8875015" y="6853991"/>
                </a:lnTo>
                <a:lnTo>
                  <a:pt x="2033617" y="6853991"/>
                </a:lnTo>
                <a:lnTo>
                  <a:pt x="2031421" y="6851897"/>
                </a:lnTo>
                <a:cubicBezTo>
                  <a:pt x="1155426" y="5975902"/>
                  <a:pt x="613611" y="4765725"/>
                  <a:pt x="613611" y="3429000"/>
                </a:cubicBezTo>
                <a:cubicBezTo>
                  <a:pt x="613611" y="2092275"/>
                  <a:pt x="1155425" y="882099"/>
                  <a:pt x="2031420" y="6103"/>
                </a:cubicBezTo>
                <a:close/>
                <a:moveTo>
                  <a:pt x="1213711" y="0"/>
                </a:moveTo>
                <a:lnTo>
                  <a:pt x="1848893" y="0"/>
                </a:lnTo>
                <a:lnTo>
                  <a:pt x="1770204" y="82534"/>
                </a:lnTo>
                <a:cubicBezTo>
                  <a:pt x="966871" y="966397"/>
                  <a:pt x="477253" y="2140521"/>
                  <a:pt x="477253" y="3429000"/>
                </a:cubicBezTo>
                <a:cubicBezTo>
                  <a:pt x="477253" y="4717480"/>
                  <a:pt x="966872" y="5891604"/>
                  <a:pt x="1770204" y="6775466"/>
                </a:cubicBezTo>
                <a:lnTo>
                  <a:pt x="1845071" y="6853991"/>
                </a:lnTo>
                <a:lnTo>
                  <a:pt x="1210561" y="6853991"/>
                </a:lnTo>
                <a:lnTo>
                  <a:pt x="1083579" y="6692406"/>
                </a:lnTo>
                <a:cubicBezTo>
                  <a:pt x="403022" y="5782393"/>
                  <a:pt x="0" y="4652762"/>
                  <a:pt x="0" y="3429000"/>
                </a:cubicBezTo>
                <a:cubicBezTo>
                  <a:pt x="0" y="2205238"/>
                  <a:pt x="403022" y="1075607"/>
                  <a:pt x="1083579" y="165594"/>
                </a:cubicBezTo>
                <a:close/>
              </a:path>
            </a:pathLst>
          </a:custGeom>
          <a:blipFill dpi="0" rotWithShape="1">
            <a:blip r:embed="rId5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384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7644F-ADAA-9267-688E-FEFDC27C5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DA2528E-2248-A65A-EE2C-89CE8CD5AB4B}"/>
              </a:ext>
            </a:extLst>
          </p:cNvPr>
          <p:cNvSpPr txBox="1"/>
          <p:nvPr/>
        </p:nvSpPr>
        <p:spPr>
          <a:xfrm>
            <a:off x="2285303" y="3267618"/>
            <a:ext cx="762209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 	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affect of w1 on z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dw2 = 5 	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	affect of w2 on z</a:t>
            </a:r>
            <a:endParaRPr lang="en-US" sz="2800" dirty="0"/>
          </a:p>
          <a:p>
            <a:r>
              <a:rPr lang="en-US" sz="2800" dirty="0" err="1"/>
              <a:t>dz</a:t>
            </a:r>
            <a:r>
              <a:rPr lang="en-US" sz="2800" dirty="0"/>
              <a:t> / dw3 = -2 		</a:t>
            </a:r>
            <a:r>
              <a:rPr lang="en-US" sz="28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affect of w3 on z</a:t>
            </a:r>
            <a:endParaRPr lang="en-US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E10B55-4603-5023-C583-D7B37AD6AE9C}"/>
              </a:ext>
            </a:extLst>
          </p:cNvPr>
          <p:cNvSpPr txBox="1"/>
          <p:nvPr/>
        </p:nvSpPr>
        <p:spPr>
          <a:xfrm>
            <a:off x="1216405" y="503339"/>
            <a:ext cx="28019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2B6862-1C2A-8B33-4F73-2AE91F200C5B}"/>
              </a:ext>
            </a:extLst>
          </p:cNvPr>
          <p:cNvSpPr txBox="1"/>
          <p:nvPr/>
        </p:nvSpPr>
        <p:spPr>
          <a:xfrm>
            <a:off x="6242811" y="5532088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B44F34-C5FE-E4CC-349F-F38F0A2F5F54}"/>
              </a:ext>
            </a:extLst>
          </p:cNvPr>
          <p:cNvSpPr txBox="1"/>
          <p:nvPr/>
        </p:nvSpPr>
        <p:spPr>
          <a:xfrm>
            <a:off x="2952924" y="5593462"/>
            <a:ext cx="28270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Loss = 20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0731A3-B544-9E1F-9550-B4243BA94570}"/>
              </a:ext>
            </a:extLst>
          </p:cNvPr>
          <p:cNvSpPr txBox="1"/>
          <p:nvPr/>
        </p:nvSpPr>
        <p:spPr>
          <a:xfrm>
            <a:off x="875250" y="5045345"/>
            <a:ext cx="17029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B050"/>
                </a:solidFill>
              </a:rPr>
              <a:t>GOAL!!!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03ADAC0A-6A26-7368-91EF-7DCDE0BCCC4C}"/>
              </a:ext>
            </a:extLst>
          </p:cNvPr>
          <p:cNvSpPr/>
          <p:nvPr/>
        </p:nvSpPr>
        <p:spPr>
          <a:xfrm>
            <a:off x="4530055" y="5436067"/>
            <a:ext cx="343948" cy="6190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Up 14">
            <a:extLst>
              <a:ext uri="{FF2B5EF4-FFF2-40B4-BE49-F238E27FC236}">
                <a16:creationId xmlns:a16="http://schemas.microsoft.com/office/drawing/2014/main" id="{D70EF580-AC14-6BCC-4654-C1D2212130C3}"/>
              </a:ext>
            </a:extLst>
          </p:cNvPr>
          <p:cNvSpPr/>
          <p:nvPr/>
        </p:nvSpPr>
        <p:spPr>
          <a:xfrm>
            <a:off x="9297801" y="3304904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Up 16">
            <a:extLst>
              <a:ext uri="{FF2B5EF4-FFF2-40B4-BE49-F238E27FC236}">
                <a16:creationId xmlns:a16="http://schemas.microsoft.com/office/drawing/2014/main" id="{6B7F4C62-307F-489A-1EB5-8A0B14E55431}"/>
              </a:ext>
            </a:extLst>
          </p:cNvPr>
          <p:cNvSpPr/>
          <p:nvPr/>
        </p:nvSpPr>
        <p:spPr>
          <a:xfrm rot="10800000">
            <a:off x="10542166" y="3319863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733B33-979D-8AB8-1F49-C3309F115C14}"/>
              </a:ext>
            </a:extLst>
          </p:cNvPr>
          <p:cNvSpPr txBox="1"/>
          <p:nvPr/>
        </p:nvSpPr>
        <p:spPr>
          <a:xfrm>
            <a:off x="8776985" y="3247943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w1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8B76EA-DE90-B6F0-EEA0-6B93FE599456}"/>
              </a:ext>
            </a:extLst>
          </p:cNvPr>
          <p:cNvSpPr txBox="1"/>
          <p:nvPr/>
        </p:nvSpPr>
        <p:spPr>
          <a:xfrm>
            <a:off x="10210102" y="3230328"/>
            <a:ext cx="34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en-US" dirty="0"/>
          </a:p>
        </p:txBody>
      </p:sp>
      <p:sp>
        <p:nvSpPr>
          <p:cNvPr id="21" name="Arrow: Up 20">
            <a:extLst>
              <a:ext uri="{FF2B5EF4-FFF2-40B4-BE49-F238E27FC236}">
                <a16:creationId xmlns:a16="http://schemas.microsoft.com/office/drawing/2014/main" id="{BB31BB6E-D6F6-ACCB-9D85-45B576FD4275}"/>
              </a:ext>
            </a:extLst>
          </p:cNvPr>
          <p:cNvSpPr/>
          <p:nvPr/>
        </p:nvSpPr>
        <p:spPr>
          <a:xfrm>
            <a:off x="9282421" y="4237481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Arrow: Up 22">
            <a:extLst>
              <a:ext uri="{FF2B5EF4-FFF2-40B4-BE49-F238E27FC236}">
                <a16:creationId xmlns:a16="http://schemas.microsoft.com/office/drawing/2014/main" id="{E8C0F3D8-7EE2-C220-9893-B4000F28581C}"/>
              </a:ext>
            </a:extLst>
          </p:cNvPr>
          <p:cNvSpPr/>
          <p:nvPr/>
        </p:nvSpPr>
        <p:spPr>
          <a:xfrm rot="10800000">
            <a:off x="10535175" y="4252440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3B9606-BB56-E1B2-1B87-DA39D1C0E464}"/>
              </a:ext>
            </a:extLst>
          </p:cNvPr>
          <p:cNvSpPr txBox="1"/>
          <p:nvPr/>
        </p:nvSpPr>
        <p:spPr>
          <a:xfrm>
            <a:off x="8761605" y="4180520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w3</a:t>
            </a:r>
            <a:endParaRPr 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29C1429-4B5C-B467-46BF-9670CEC3A6EC}"/>
              </a:ext>
            </a:extLst>
          </p:cNvPr>
          <p:cNvSpPr txBox="1"/>
          <p:nvPr/>
        </p:nvSpPr>
        <p:spPr>
          <a:xfrm>
            <a:off x="10194722" y="4162905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en-US" dirty="0"/>
          </a:p>
        </p:txBody>
      </p:sp>
      <p:sp>
        <p:nvSpPr>
          <p:cNvPr id="27" name="Arrow: Up 26">
            <a:extLst>
              <a:ext uri="{FF2B5EF4-FFF2-40B4-BE49-F238E27FC236}">
                <a16:creationId xmlns:a16="http://schemas.microsoft.com/office/drawing/2014/main" id="{D2DF7FA3-FD2D-0820-4736-5996FD14C12B}"/>
              </a:ext>
            </a:extLst>
          </p:cNvPr>
          <p:cNvSpPr/>
          <p:nvPr/>
        </p:nvSpPr>
        <p:spPr>
          <a:xfrm>
            <a:off x="9282421" y="3759308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C8F48B-030D-C7E9-BE25-3F6B7998943C}"/>
              </a:ext>
            </a:extLst>
          </p:cNvPr>
          <p:cNvSpPr txBox="1"/>
          <p:nvPr/>
        </p:nvSpPr>
        <p:spPr>
          <a:xfrm>
            <a:off x="8761605" y="3702347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w2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972C0F2-D001-1081-7F2B-884966D6F789}"/>
              </a:ext>
            </a:extLst>
          </p:cNvPr>
          <p:cNvSpPr txBox="1"/>
          <p:nvPr/>
        </p:nvSpPr>
        <p:spPr>
          <a:xfrm>
            <a:off x="10194722" y="3684732"/>
            <a:ext cx="3404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z</a:t>
            </a:r>
            <a:endParaRPr lang="en-US" dirty="0"/>
          </a:p>
        </p:txBody>
      </p:sp>
      <p:sp>
        <p:nvSpPr>
          <p:cNvPr id="31" name="Arrow: Up 30">
            <a:extLst>
              <a:ext uri="{FF2B5EF4-FFF2-40B4-BE49-F238E27FC236}">
                <a16:creationId xmlns:a16="http://schemas.microsoft.com/office/drawing/2014/main" id="{35D74105-594A-7488-698A-A54D2E8EBC07}"/>
              </a:ext>
            </a:extLst>
          </p:cNvPr>
          <p:cNvSpPr/>
          <p:nvPr/>
        </p:nvSpPr>
        <p:spPr>
          <a:xfrm>
            <a:off x="10536576" y="3767641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783BDE24-0C7A-4F74-5F87-7BAC73C85240}"/>
              </a:ext>
            </a:extLst>
          </p:cNvPr>
          <p:cNvSpPr/>
          <p:nvPr/>
        </p:nvSpPr>
        <p:spPr>
          <a:xfrm>
            <a:off x="8779085" y="5436067"/>
            <a:ext cx="343948" cy="61905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D4FCCB1-166E-AC6E-64A4-B1BCAD7A5080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AC462F6-BA1B-78C3-57CD-DF9EAE427E54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8511363-918A-6D03-2E77-8DC95EF2A391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A726763-0B22-D4C9-7320-5B502EF4614B}"/>
              </a:ext>
            </a:extLst>
          </p:cNvPr>
          <p:cNvCxnSpPr>
            <a:cxnSpLocks/>
            <a:stCxn id="16" idx="6"/>
            <a:endCxn id="22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3878881-DF06-AE67-3706-DA2F776F4110}"/>
              </a:ext>
            </a:extLst>
          </p:cNvPr>
          <p:cNvCxnSpPr>
            <a:cxnSpLocks/>
            <a:stCxn id="22" idx="6"/>
            <a:endCxn id="28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9ADFE50F-7C91-83FA-FCA2-F6F523B2FEB4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</p:spTree>
    <p:extLst>
      <p:ext uri="{BB962C8B-B14F-4D97-AF65-F5344CB8AC3E}">
        <p14:creationId xmlns:p14="http://schemas.microsoft.com/office/powerpoint/2010/main" val="363761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4" grpId="0"/>
      <p:bldP spid="6" grpId="0"/>
      <p:bldP spid="10" grpId="0"/>
      <p:bldP spid="11" grpId="0" animBg="1"/>
      <p:bldP spid="15" grpId="0" animBg="1"/>
      <p:bldP spid="17" grpId="0" animBg="1"/>
      <p:bldP spid="18" grpId="0"/>
      <p:bldP spid="20" grpId="0"/>
      <p:bldP spid="21" grpId="0" animBg="1"/>
      <p:bldP spid="23" grpId="0" animBg="1"/>
      <p:bldP spid="24" grpId="0"/>
      <p:bldP spid="26" grpId="0"/>
      <p:bldP spid="27" grpId="0" animBg="1"/>
      <p:bldP spid="29" grpId="0"/>
      <p:bldP spid="30" grpId="0"/>
      <p:bldP spid="31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5B3C1-E27E-AC56-E8A8-656BA68F9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1C4B9B7-59C4-2824-973B-E397690177B3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E151F9-6695-4AA5-0F46-47F1B368E436}"/>
              </a:ext>
            </a:extLst>
          </p:cNvPr>
          <p:cNvSpPr txBox="1"/>
          <p:nvPr/>
        </p:nvSpPr>
        <p:spPr>
          <a:xfrm>
            <a:off x="1216405" y="503339"/>
            <a:ext cx="262295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22FCB5-A7CC-54E0-46D5-27D80BEE3D23}"/>
              </a:ext>
            </a:extLst>
          </p:cNvPr>
          <p:cNvSpPr txBox="1"/>
          <p:nvPr/>
        </p:nvSpPr>
        <p:spPr>
          <a:xfrm>
            <a:off x="802550" y="3010191"/>
            <a:ext cx="26229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-10</a:t>
            </a:r>
          </a:p>
        </p:txBody>
      </p:sp>
      <p:sp>
        <p:nvSpPr>
          <p:cNvPr id="13" name="Arrow: Up 12">
            <a:extLst>
              <a:ext uri="{FF2B5EF4-FFF2-40B4-BE49-F238E27FC236}">
                <a16:creationId xmlns:a16="http://schemas.microsoft.com/office/drawing/2014/main" id="{1BCDA5E6-FF96-8F9C-F4E7-084B70C98D2A}"/>
              </a:ext>
            </a:extLst>
          </p:cNvPr>
          <p:cNvSpPr/>
          <p:nvPr/>
        </p:nvSpPr>
        <p:spPr>
          <a:xfrm>
            <a:off x="3338824" y="2914170"/>
            <a:ext cx="343948" cy="61905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297365-A310-CBC1-3F25-3706281EBF3D}"/>
              </a:ext>
            </a:extLst>
          </p:cNvPr>
          <p:cNvSpPr txBox="1"/>
          <p:nvPr/>
        </p:nvSpPr>
        <p:spPr>
          <a:xfrm>
            <a:off x="1730234" y="4112009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w1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A5B7A4B-34C4-761B-4D81-77B1113AFE7F}"/>
              </a:ext>
            </a:extLst>
          </p:cNvPr>
          <p:cNvSpPr txBox="1"/>
          <p:nvPr/>
        </p:nvSpPr>
        <p:spPr>
          <a:xfrm>
            <a:off x="1714854" y="5044586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w3</a:t>
            </a:r>
            <a:endParaRPr lang="en-US" dirty="0"/>
          </a:p>
        </p:txBody>
      </p:sp>
      <p:sp>
        <p:nvSpPr>
          <p:cNvPr id="32" name="Arrow: Up 31">
            <a:extLst>
              <a:ext uri="{FF2B5EF4-FFF2-40B4-BE49-F238E27FC236}">
                <a16:creationId xmlns:a16="http://schemas.microsoft.com/office/drawing/2014/main" id="{51DC532F-E6B3-C749-9CB0-F86F1344BABC}"/>
              </a:ext>
            </a:extLst>
          </p:cNvPr>
          <p:cNvSpPr/>
          <p:nvPr/>
        </p:nvSpPr>
        <p:spPr>
          <a:xfrm>
            <a:off x="2235670" y="4623374"/>
            <a:ext cx="302003" cy="387089"/>
          </a:xfrm>
          <a:prstGeom prst="upArrow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ACD8571-E606-FCD0-D035-4296CFE050E6}"/>
              </a:ext>
            </a:extLst>
          </p:cNvPr>
          <p:cNvSpPr txBox="1"/>
          <p:nvPr/>
        </p:nvSpPr>
        <p:spPr>
          <a:xfrm>
            <a:off x="1714854" y="4566413"/>
            <a:ext cx="5956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w2</a:t>
            </a:r>
            <a:endParaRPr lang="en-US" dirty="0"/>
          </a:p>
        </p:txBody>
      </p:sp>
      <p:sp>
        <p:nvSpPr>
          <p:cNvPr id="34" name="Arrow: Up 33">
            <a:extLst>
              <a:ext uri="{FF2B5EF4-FFF2-40B4-BE49-F238E27FC236}">
                <a16:creationId xmlns:a16="http://schemas.microsoft.com/office/drawing/2014/main" id="{9BBFD37E-E438-41AB-B8F2-72FDA6FF91C6}"/>
              </a:ext>
            </a:extLst>
          </p:cNvPr>
          <p:cNvSpPr/>
          <p:nvPr/>
        </p:nvSpPr>
        <p:spPr>
          <a:xfrm rot="10800000">
            <a:off x="2235670" y="4179324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Up 34">
            <a:extLst>
              <a:ext uri="{FF2B5EF4-FFF2-40B4-BE49-F238E27FC236}">
                <a16:creationId xmlns:a16="http://schemas.microsoft.com/office/drawing/2014/main" id="{4EE8A17C-07F4-6765-0864-54E4E21F2399}"/>
              </a:ext>
            </a:extLst>
          </p:cNvPr>
          <p:cNvSpPr/>
          <p:nvPr/>
        </p:nvSpPr>
        <p:spPr>
          <a:xfrm rot="10800000">
            <a:off x="2235669" y="5088792"/>
            <a:ext cx="302003" cy="387089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07EBCE9-1DAC-6B2F-1F17-8F183E408EA1}"/>
              </a:ext>
            </a:extLst>
          </p:cNvPr>
          <p:cNvSpPr txBox="1"/>
          <p:nvPr/>
        </p:nvSpPr>
        <p:spPr>
          <a:xfrm>
            <a:off x="4647501" y="4179324"/>
            <a:ext cx="35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w1 = 3 + 0.01*(-10) = 2.9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258086-89D9-493E-DAD7-2FB7667C4CC4}"/>
              </a:ext>
            </a:extLst>
          </p:cNvPr>
          <p:cNvSpPr txBox="1"/>
          <p:nvPr/>
        </p:nvSpPr>
        <p:spPr>
          <a:xfrm>
            <a:off x="4647501" y="4609817"/>
            <a:ext cx="35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w2 = 4 + 0.01*5 = 4.1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DFB0C00-531F-30DC-D6B5-BD0EF9C5D7A5}"/>
              </a:ext>
            </a:extLst>
          </p:cNvPr>
          <p:cNvSpPr txBox="1"/>
          <p:nvPr/>
        </p:nvSpPr>
        <p:spPr>
          <a:xfrm>
            <a:off x="4647501" y="5015109"/>
            <a:ext cx="35820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w3 = 5 + 0.01*(-2) = 4.9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3B645C3-8D4D-9F41-3D6B-DF9115AE3760}"/>
              </a:ext>
            </a:extLst>
          </p:cNvPr>
          <p:cNvSpPr txBox="1"/>
          <p:nvPr/>
        </p:nvSpPr>
        <p:spPr>
          <a:xfrm>
            <a:off x="9196434" y="1109578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C423D753-F809-06D1-F45F-FC53A7DF6556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B5A02C0-1A23-09DB-0FDC-54D3D4DD0504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986FFC61-9B22-2052-B33F-11A873CA41D5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3EF0F8A-9A8D-22D0-B195-6A08B2A36A24}"/>
              </a:ext>
            </a:extLst>
          </p:cNvPr>
          <p:cNvCxnSpPr>
            <a:cxnSpLocks/>
            <a:stCxn id="43" idx="6"/>
            <a:endCxn id="44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0625BEF-DDE2-4121-6283-2F247457DB49}"/>
              </a:ext>
            </a:extLst>
          </p:cNvPr>
          <p:cNvCxnSpPr>
            <a:cxnSpLocks/>
            <a:stCxn id="44" idx="6"/>
            <a:endCxn id="45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AA4A6857-6BE9-2C39-BB3A-2073ABC6D468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</p:spTree>
    <p:extLst>
      <p:ext uri="{BB962C8B-B14F-4D97-AF65-F5344CB8AC3E}">
        <p14:creationId xmlns:p14="http://schemas.microsoft.com/office/powerpoint/2010/main" val="293127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 animBg="1"/>
      <p:bldP spid="19" grpId="0"/>
      <p:bldP spid="28" grpId="0"/>
      <p:bldP spid="32" grpId="0" animBg="1"/>
      <p:bldP spid="33" grpId="0"/>
      <p:bldP spid="34" grpId="0" animBg="1"/>
      <p:bldP spid="35" grpId="0" animBg="1"/>
      <p:bldP spid="39" grpId="0"/>
      <p:bldP spid="40" grpId="0"/>
      <p:bldP spid="4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E621B-1CD4-31FC-B295-B2D451F2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8A2D150-6AE6-5D98-2B99-F9DD81165EB8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5DE7D5-EF71-3569-084D-FBC65E347690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4C3DECE-2CE5-1ED5-2AE3-6760F0CADADB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E5E19-C526-49EA-C798-2919B2B7C6B6}"/>
              </a:ext>
            </a:extLst>
          </p:cNvPr>
          <p:cNvSpPr txBox="1"/>
          <p:nvPr/>
        </p:nvSpPr>
        <p:spPr>
          <a:xfrm>
            <a:off x="774583" y="3531955"/>
            <a:ext cx="47649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Predicted</a:t>
            </a:r>
            <a:r>
              <a:rPr lang="en-US" dirty="0"/>
              <a:t> = z = (4.1 – 2 * 2.9) * 4.9 = </a:t>
            </a:r>
            <a:r>
              <a:rPr lang="en-US" dirty="0">
                <a:solidFill>
                  <a:srgbClr val="92D050"/>
                </a:solidFill>
              </a:rPr>
              <a:t>-8.33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5ADFA46-1940-1700-A545-4245374983A3}"/>
              </a:ext>
            </a:extLst>
          </p:cNvPr>
          <p:cNvSpPr/>
          <p:nvPr/>
        </p:nvSpPr>
        <p:spPr>
          <a:xfrm>
            <a:off x="1313809" y="4432991"/>
            <a:ext cx="550105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This is one step!!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C64EEC-0E76-95F1-9ACD-7E6BF93BF3A6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0739171-0872-3B00-A6A7-48AA3353B82F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F8A183-0810-7CA6-BBC0-AB0F0F13E63A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A7AEE1-D0F4-80DD-9F4C-C32F043EBB3F}"/>
              </a:ext>
            </a:extLst>
          </p:cNvPr>
          <p:cNvSpPr txBox="1"/>
          <p:nvPr/>
        </p:nvSpPr>
        <p:spPr>
          <a:xfrm>
            <a:off x="9196434" y="1109578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2A6A511-DB39-C2FD-631D-45DE1113227F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F82EE37-CAE7-3285-6A3E-A2AC286D271C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A992E16-84A7-CBD2-12BA-B90DB6EF8F46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3002DA-0C25-C5AC-E3B7-0ADFD842E317}"/>
              </a:ext>
            </a:extLst>
          </p:cNvPr>
          <p:cNvCxnSpPr>
            <a:cxnSpLocks/>
            <a:stCxn id="25" idx="6"/>
            <a:endCxn id="26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3BC0CD-3981-5672-3DA7-C94DF8186C47}"/>
              </a:ext>
            </a:extLst>
          </p:cNvPr>
          <p:cNvCxnSpPr>
            <a:cxnSpLocks/>
            <a:stCxn id="26" idx="6"/>
            <a:endCxn id="27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F94CB6C-F0BC-D557-7A7D-B7EE70256E23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</p:spTree>
    <p:extLst>
      <p:ext uri="{BB962C8B-B14F-4D97-AF65-F5344CB8AC3E}">
        <p14:creationId xmlns:p14="http://schemas.microsoft.com/office/powerpoint/2010/main" val="1356861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5F6EC-E906-C04B-DEC1-BAA30DC7E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9B725CF-1694-0C2D-9349-2F9663FF3E76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F8477D-EB2C-BB87-2ECE-92BAFD7FE63C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830E802-B478-D6ED-0A36-A6AFD1DFF9F0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D11A76BC-F6DE-B1BB-48E0-79FE455818FF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9CA6DB-CE4B-8597-BBAE-05590CB3A40D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479C7D-F400-7D3F-4E50-56706401FFF8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DD5DBEC-E0E7-2371-EF22-CE989C4204B3}"/>
              </a:ext>
            </a:extLst>
          </p:cNvPr>
          <p:cNvCxnSpPr>
            <a:cxnSpLocks/>
          </p:cNvCxnSpPr>
          <p:nvPr/>
        </p:nvCxnSpPr>
        <p:spPr>
          <a:xfrm flipV="1">
            <a:off x="4715315" y="1833964"/>
            <a:ext cx="4319628" cy="179868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AB575318-055A-BB02-8AD3-9AEC86028024}"/>
              </a:ext>
            </a:extLst>
          </p:cNvPr>
          <p:cNvCxnSpPr>
            <a:cxnSpLocks/>
          </p:cNvCxnSpPr>
          <p:nvPr/>
        </p:nvCxnSpPr>
        <p:spPr>
          <a:xfrm rot="16200000" flipV="1">
            <a:off x="4035942" y="2953276"/>
            <a:ext cx="938594" cy="420152"/>
          </a:xfrm>
          <a:prstGeom prst="bentConnector3">
            <a:avLst>
              <a:gd name="adj1" fmla="val 9915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67FB9C4-0923-1CC0-A2F2-BF6BA10CA859}"/>
              </a:ext>
            </a:extLst>
          </p:cNvPr>
          <p:cNvCxnSpPr>
            <a:stCxn id="18" idx="3"/>
          </p:cNvCxnSpPr>
          <p:nvPr/>
        </p:nvCxnSpPr>
        <p:spPr>
          <a:xfrm flipV="1">
            <a:off x="4118994" y="3632649"/>
            <a:ext cx="596321" cy="81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8D30228-2FD6-8300-F66B-B3B97C70D166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6136C7F-D0BD-F51C-65A1-3578B5BA43CF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4C3FA29-DD5D-0512-AA29-E1EE793CD26C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0A02125-EDD3-C3EA-FE48-7D7BE0DC31BB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A9874BD8-ABA3-FC92-8F31-6A8A95DA565B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FB1A21E-C921-A7A0-BEFB-01FDA6228702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5A4F2A99-A480-0899-00A4-E8E4850A5C9B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FEF2F870-822D-CBEF-1156-318542721210}"/>
              </a:ext>
            </a:extLst>
          </p:cNvPr>
          <p:cNvCxnSpPr>
            <a:cxnSpLocks/>
            <a:stCxn id="50" idx="6"/>
            <a:endCxn id="51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9C8A016A-653E-981E-2066-0435EA3BDB59}"/>
              </a:ext>
            </a:extLst>
          </p:cNvPr>
          <p:cNvCxnSpPr>
            <a:cxnSpLocks/>
            <a:stCxn id="51" idx="6"/>
            <a:endCxn id="52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D1ACA7AE-3DD2-9BFA-40DE-7A2C9AAA2B87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55B99CF-6339-F09A-24AA-0C26794D8788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683032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55F22-F50F-DF90-C14E-923AFEF23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5D0FE60-1286-2712-2D63-848FDFF1D6E1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4F3853-A40F-5970-16F6-A45579459F50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0CA722F-3727-9608-3A5F-D4EB1D27664A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71E7D6A-6166-0899-58CF-DADD76D8D1FB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D0968A-DF3D-86ED-9C5A-9903ADBFDE50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6ADEF8-FDBC-05D0-FDFF-577F194D95AF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B16CD21-3079-EC5A-039A-A96D93981320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B4F24B0-A5A0-6182-A142-D2133E6EF951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76DA9D-0594-23B4-D55D-6BE6DDD3BC61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A60B684-A446-79EF-6486-A737B29A3434}"/>
              </a:ext>
            </a:extLst>
          </p:cNvPr>
          <p:cNvCxnSpPr>
            <a:stCxn id="21" idx="3"/>
          </p:cNvCxnSpPr>
          <p:nvPr/>
        </p:nvCxnSpPr>
        <p:spPr>
          <a:xfrm>
            <a:off x="4118994" y="4096727"/>
            <a:ext cx="1224793" cy="54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E9E64AED-DBB2-20E9-38E2-1A7E72C134D5}"/>
              </a:ext>
            </a:extLst>
          </p:cNvPr>
          <p:cNvSpPr txBox="1"/>
          <p:nvPr/>
        </p:nvSpPr>
        <p:spPr>
          <a:xfrm>
            <a:off x="5461233" y="3912061"/>
            <a:ext cx="2930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Loss </a:t>
            </a:r>
            <a:r>
              <a:rPr lang="en-US" dirty="0"/>
              <a:t>= 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target</a:t>
            </a:r>
            <a:r>
              <a:rPr lang="en-US" dirty="0"/>
              <a:t> - </a:t>
            </a:r>
            <a:r>
              <a:rPr lang="en-US" dirty="0">
                <a:solidFill>
                  <a:srgbClr val="00B050"/>
                </a:solidFill>
              </a:rPr>
              <a:t>predicted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3EB530-149B-80FD-53C2-A4406869E8C2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8F2BD69-5E96-53AE-248B-87F3AACA9364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FA1C7B-0AD4-15DD-A3E9-AC261A561C88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81C0195-AEBD-9BA6-FDAE-A9244F1A1EA9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46CB84ED-0C69-A3A3-53A4-A72173E73324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9720DA1E-1C90-655B-7F91-43BE0227622F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498F1253-DD79-FC86-A66A-57CA8529039E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5EE4D00F-581B-B212-927B-A498B18A5684}"/>
              </a:ext>
            </a:extLst>
          </p:cNvPr>
          <p:cNvCxnSpPr>
            <a:cxnSpLocks/>
            <a:stCxn id="45" idx="6"/>
            <a:endCxn id="46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9BF3157-71CE-FFBE-EDE4-2570A30B066F}"/>
              </a:ext>
            </a:extLst>
          </p:cNvPr>
          <p:cNvCxnSpPr>
            <a:cxnSpLocks/>
            <a:stCxn id="46" idx="6"/>
            <a:endCxn id="47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7660AD00-4210-ABDC-0243-78471B456A80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283A6D0-FB07-A76D-20A8-91A5DE0D5C09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28645507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A532C-0D15-0F99-9C1C-D1D2C8050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0145064-89DF-515C-BEBD-1FB92AE287EF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856030-DA16-90F0-D35A-F95761A3D864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25EDEEA-2DA2-BE2E-CE5A-CEF81B5A2937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00496FE7-CBEF-17E1-693A-01B1D325DB79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78529F-0CBE-02F4-C887-08D1037118F4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0D870C3-7ED1-4FD3-79B6-2647713C4B96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8FB6C79-C7E0-33F2-0D46-7CEEB5764ED9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F24534B-8254-9775-F5A8-5B12CED347BD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285389-3F58-0EF2-37E3-A986EBEC1139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2501C17-D0D0-FC35-FA36-2CCD73B808EA}"/>
              </a:ext>
            </a:extLst>
          </p:cNvPr>
          <p:cNvSpPr/>
          <p:nvPr/>
        </p:nvSpPr>
        <p:spPr>
          <a:xfrm>
            <a:off x="671119" y="4446474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36B399-F8D8-9560-0AC7-8515722E438E}"/>
              </a:ext>
            </a:extLst>
          </p:cNvPr>
          <p:cNvSpPr txBox="1"/>
          <p:nvPr/>
        </p:nvSpPr>
        <p:spPr>
          <a:xfrm>
            <a:off x="293615" y="4379470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BDE329D-B5FF-6EEF-0C55-E528C9C23FE4}"/>
              </a:ext>
            </a:extLst>
          </p:cNvPr>
          <p:cNvSpPr txBox="1"/>
          <p:nvPr/>
        </p:nvSpPr>
        <p:spPr>
          <a:xfrm>
            <a:off x="1291905" y="4387643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backpropagation</a:t>
            </a: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E319615-1337-DB3A-9435-C5D50B4BBAFE}"/>
              </a:ext>
            </a:extLst>
          </p:cNvPr>
          <p:cNvCxnSpPr>
            <a:cxnSpLocks/>
            <a:stCxn id="24" idx="3"/>
          </p:cNvCxnSpPr>
          <p:nvPr/>
        </p:nvCxnSpPr>
        <p:spPr>
          <a:xfrm flipV="1">
            <a:off x="4118994" y="3817315"/>
            <a:ext cx="5436067" cy="754994"/>
          </a:xfrm>
          <a:prstGeom prst="bentConnector3">
            <a:avLst>
              <a:gd name="adj1" fmla="val 9984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D20646-EE36-7136-F8A4-5D33DE31ECA9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4FF578B-620A-9DB6-75CA-A77ACD282BF1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570BB8-A057-D558-9952-D936DDA95C9F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B0A41-59AE-BCF8-568A-36653100F5E3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F73AB1D3-509D-91CD-6344-F01198384980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378CDE84-BCDB-2BBC-AA80-D8EB0E3DC81D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11526D50-9623-F989-3DC4-49EFF3DFE74D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110BC4AF-3A82-FD1B-393B-C2FC316611DD}"/>
              </a:ext>
            </a:extLst>
          </p:cNvPr>
          <p:cNvCxnSpPr>
            <a:cxnSpLocks/>
            <a:stCxn id="34" idx="6"/>
            <a:endCxn id="35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56CE8B9-1D28-9B73-39DB-8EBB3AEB1DE1}"/>
              </a:ext>
            </a:extLst>
          </p:cNvPr>
          <p:cNvCxnSpPr>
            <a:cxnSpLocks/>
            <a:stCxn id="35" idx="6"/>
            <a:endCxn id="36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20A5D164-FDE1-6D27-8651-D71179BBAA7B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18A94C-89CC-50AA-55FD-DAAD338D3A41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4237455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D7380-0CE9-C93C-E8C1-1810F5D49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BDCFA13-6578-A4F1-6642-FDFA33C09660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37B1DBC-E87D-8461-BAE2-E583FC763A73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8699C66-34E6-8A2B-88B8-E9C816955E58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B7B5FCD9-D644-3032-3BBE-D6A09F4E3A69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C85596-B8EC-9647-8C5E-58895D2F1605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AAE70B-5D3C-32FB-C912-CF83D7DC13DD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0B3B4A3-55CA-8848-1CC7-C9A1EE54EE75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0E9B92-AB1B-61E1-21DF-4A58883B8B02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69287B-6897-3E1B-BC20-E932AEDBACAD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69449EF-579B-B984-E30F-36B96559598A}"/>
              </a:ext>
            </a:extLst>
          </p:cNvPr>
          <p:cNvSpPr/>
          <p:nvPr/>
        </p:nvSpPr>
        <p:spPr>
          <a:xfrm>
            <a:off x="671119" y="4446474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73C447-2AB3-764F-6EF7-0E4D5F7D87C3}"/>
              </a:ext>
            </a:extLst>
          </p:cNvPr>
          <p:cNvSpPr txBox="1"/>
          <p:nvPr/>
        </p:nvSpPr>
        <p:spPr>
          <a:xfrm>
            <a:off x="293615" y="4379470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D95BFF-2828-2650-E550-756BEE8028CD}"/>
              </a:ext>
            </a:extLst>
          </p:cNvPr>
          <p:cNvSpPr txBox="1"/>
          <p:nvPr/>
        </p:nvSpPr>
        <p:spPr>
          <a:xfrm>
            <a:off x="1291905" y="4387643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backpropagation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105E6C6-1998-EF59-50A9-B45DF88C0030}"/>
              </a:ext>
            </a:extLst>
          </p:cNvPr>
          <p:cNvSpPr/>
          <p:nvPr/>
        </p:nvSpPr>
        <p:spPr>
          <a:xfrm>
            <a:off x="671119" y="485505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184C68-8A37-82D9-2279-821F7894C430}"/>
              </a:ext>
            </a:extLst>
          </p:cNvPr>
          <p:cNvSpPr txBox="1"/>
          <p:nvPr/>
        </p:nvSpPr>
        <p:spPr>
          <a:xfrm>
            <a:off x="293615" y="478804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1CAC19-A57E-4FE9-E5F9-EDD8C353E097}"/>
              </a:ext>
            </a:extLst>
          </p:cNvPr>
          <p:cNvSpPr txBox="1"/>
          <p:nvPr/>
        </p:nvSpPr>
        <p:spPr>
          <a:xfrm>
            <a:off x="1291905" y="479622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Gradient Descent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23DA4E85-3F9C-519D-9914-EFEE5AA45604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4118994" y="4980887"/>
            <a:ext cx="4370665" cy="42162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5B4739D5-DA6A-72E1-8B4C-F7C8A207372B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86306A-714E-40B9-1759-A5010F07E1AE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BA1590-8BE2-2274-42E2-CC6949E8F144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B416A2E-962E-DFE9-7C2B-B8BEB41CD779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7070B12-9E2B-DAEC-B293-6238CFB60385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2BAD0BCD-4C9E-184E-55B0-81607F583E2B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FFA3BF0A-1A48-79B3-7E61-B27400A8CE3A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3AE3EE0-B90D-3CC8-E970-71EDA58F5777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57DB6FD-FE5F-E88C-2848-AFCA2BFE24B2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6E818E20-1376-FE94-7546-EF153FCC8A9A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6AAF7E7-3292-A603-3889-8D7E6118DEA8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</p:spTree>
    <p:extLst>
      <p:ext uri="{BB962C8B-B14F-4D97-AF65-F5344CB8AC3E}">
        <p14:creationId xmlns:p14="http://schemas.microsoft.com/office/powerpoint/2010/main" val="1881898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A3C6-07BD-8CAC-5D17-17F85F4A0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9E874BE-1640-85D7-57C5-895BEB45957F}"/>
              </a:ext>
            </a:extLst>
          </p:cNvPr>
          <p:cNvSpPr txBox="1"/>
          <p:nvPr/>
        </p:nvSpPr>
        <p:spPr>
          <a:xfrm>
            <a:off x="8610602" y="2307753"/>
            <a:ext cx="272572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dz</a:t>
            </a:r>
            <a:r>
              <a:rPr lang="en-US" sz="2800" dirty="0"/>
              <a:t> / dw1 = -10</a:t>
            </a:r>
            <a:endParaRPr lang="en-US" sz="28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sz="2800" dirty="0" err="1"/>
              <a:t>dz</a:t>
            </a:r>
            <a:r>
              <a:rPr lang="en-US" sz="2800" dirty="0"/>
              <a:t> / dw2 = 5</a:t>
            </a:r>
          </a:p>
          <a:p>
            <a:r>
              <a:rPr lang="en-US" sz="2800" dirty="0" err="1"/>
              <a:t>dz</a:t>
            </a:r>
            <a:r>
              <a:rPr lang="en-US" sz="2800" dirty="0"/>
              <a:t> / dw3 = -2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751F3A-8FB1-39B5-C262-9E8BBD4B6D72}"/>
              </a:ext>
            </a:extLst>
          </p:cNvPr>
          <p:cNvSpPr txBox="1"/>
          <p:nvPr/>
        </p:nvSpPr>
        <p:spPr>
          <a:xfrm>
            <a:off x="1216404" y="503339"/>
            <a:ext cx="37247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C00000"/>
                </a:solidFill>
              </a:rPr>
              <a:t>g = -2*w1</a:t>
            </a:r>
          </a:p>
          <a:p>
            <a:r>
              <a:rPr lang="en-US" sz="3600" dirty="0">
                <a:solidFill>
                  <a:srgbClr val="C00000"/>
                </a:solidFill>
              </a:rPr>
              <a:t>y = w2 + g</a:t>
            </a:r>
            <a:endParaRPr lang="en-US" dirty="0"/>
          </a:p>
          <a:p>
            <a:r>
              <a:rPr lang="en-US" sz="3600" dirty="0">
                <a:solidFill>
                  <a:srgbClr val="C00000"/>
                </a:solidFill>
              </a:rPr>
              <a:t>z = y*w3</a:t>
            </a:r>
          </a:p>
          <a:p>
            <a:endParaRPr lang="en-US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D2F12B6-5751-0FEF-C44B-464CF87B2C14}"/>
              </a:ext>
            </a:extLst>
          </p:cNvPr>
          <p:cNvSpPr txBox="1">
            <a:spLocks/>
          </p:cNvSpPr>
          <p:nvPr/>
        </p:nvSpPr>
        <p:spPr>
          <a:xfrm>
            <a:off x="774583" y="2466363"/>
            <a:ext cx="4236441" cy="5338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800" dirty="0"/>
              <a:t>z = (w2 + -2*w1)*w3</a:t>
            </a: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CA125EB1-9C2E-CF57-CCBC-F1D610699FBC}"/>
              </a:ext>
            </a:extLst>
          </p:cNvPr>
          <p:cNvSpPr/>
          <p:nvPr/>
        </p:nvSpPr>
        <p:spPr>
          <a:xfrm>
            <a:off x="671119" y="3514987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E3CDF9-8520-118E-5587-86E047E29742}"/>
              </a:ext>
            </a:extLst>
          </p:cNvPr>
          <p:cNvSpPr txBox="1"/>
          <p:nvPr/>
        </p:nvSpPr>
        <p:spPr>
          <a:xfrm>
            <a:off x="293615" y="3447983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D0F686D-85E4-34A1-DC46-32049FACD8C1}"/>
              </a:ext>
            </a:extLst>
          </p:cNvPr>
          <p:cNvSpPr txBox="1"/>
          <p:nvPr/>
        </p:nvSpPr>
        <p:spPr>
          <a:xfrm>
            <a:off x="1291905" y="3456156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92D050"/>
                </a:solidFill>
              </a:rPr>
              <a:t>prediction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B53E4846-4B53-7E53-A6BC-49712665086C}"/>
              </a:ext>
            </a:extLst>
          </p:cNvPr>
          <p:cNvSpPr/>
          <p:nvPr/>
        </p:nvSpPr>
        <p:spPr>
          <a:xfrm>
            <a:off x="671119" y="397089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69A7709-5424-EA01-4C6C-39D7F8E5962B}"/>
              </a:ext>
            </a:extLst>
          </p:cNvPr>
          <p:cNvSpPr txBox="1"/>
          <p:nvPr/>
        </p:nvSpPr>
        <p:spPr>
          <a:xfrm>
            <a:off x="293615" y="390388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4BDB70-29B2-D48C-CC65-E3672C69428B}"/>
              </a:ext>
            </a:extLst>
          </p:cNvPr>
          <p:cNvSpPr txBox="1"/>
          <p:nvPr/>
        </p:nvSpPr>
        <p:spPr>
          <a:xfrm>
            <a:off x="1291905" y="391206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 the </a:t>
            </a:r>
            <a:r>
              <a:rPr lang="en-US" dirty="0">
                <a:solidFill>
                  <a:srgbClr val="FF0000"/>
                </a:solidFill>
              </a:rPr>
              <a:t>loss</a:t>
            </a:r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6D85F83-2444-9B8B-6738-A36E0E58020C}"/>
              </a:ext>
            </a:extLst>
          </p:cNvPr>
          <p:cNvSpPr/>
          <p:nvPr/>
        </p:nvSpPr>
        <p:spPr>
          <a:xfrm>
            <a:off x="671119" y="4446474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4A8FC9-8766-1A2C-3D21-B64E0E4A0B3B}"/>
              </a:ext>
            </a:extLst>
          </p:cNvPr>
          <p:cNvSpPr txBox="1"/>
          <p:nvPr/>
        </p:nvSpPr>
        <p:spPr>
          <a:xfrm>
            <a:off x="293615" y="4379470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D86E58-1ED8-3C34-22F7-4B8A2A69F95F}"/>
              </a:ext>
            </a:extLst>
          </p:cNvPr>
          <p:cNvSpPr txBox="1"/>
          <p:nvPr/>
        </p:nvSpPr>
        <p:spPr>
          <a:xfrm>
            <a:off x="1291905" y="4387643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backpropagation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CDB81C7-601D-9A64-FAF8-70D4CA902923}"/>
              </a:ext>
            </a:extLst>
          </p:cNvPr>
          <p:cNvSpPr/>
          <p:nvPr/>
        </p:nvSpPr>
        <p:spPr>
          <a:xfrm>
            <a:off x="671119" y="4855052"/>
            <a:ext cx="369116" cy="25167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A2ECF0-7094-5FBF-D08D-93445EAB6AA8}"/>
              </a:ext>
            </a:extLst>
          </p:cNvPr>
          <p:cNvSpPr txBox="1"/>
          <p:nvPr/>
        </p:nvSpPr>
        <p:spPr>
          <a:xfrm>
            <a:off x="293615" y="4788048"/>
            <a:ext cx="243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8FC05D-20BE-DD72-CEC8-0CB75050328F}"/>
              </a:ext>
            </a:extLst>
          </p:cNvPr>
          <p:cNvSpPr txBox="1"/>
          <p:nvPr/>
        </p:nvSpPr>
        <p:spPr>
          <a:xfrm>
            <a:off x="1291905" y="4796221"/>
            <a:ext cx="2827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Gradient Descent</a:t>
            </a:r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0143205F-13D0-FE9F-E7F5-7DB5EC83B221}"/>
              </a:ext>
            </a:extLst>
          </p:cNvPr>
          <p:cNvCxnSpPr>
            <a:cxnSpLocks/>
            <a:endCxn id="18" idx="3"/>
          </p:cNvCxnSpPr>
          <p:nvPr/>
        </p:nvCxnSpPr>
        <p:spPr>
          <a:xfrm rot="5400000" flipH="1" flipV="1">
            <a:off x="3275901" y="4156746"/>
            <a:ext cx="1359017" cy="327170"/>
          </a:xfrm>
          <a:prstGeom prst="bentConnector4">
            <a:avLst>
              <a:gd name="adj1" fmla="val -4"/>
              <a:gd name="adj2" fmla="val 16987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2217D37-0A43-C414-8E17-AE87FDDE9F35}"/>
              </a:ext>
            </a:extLst>
          </p:cNvPr>
          <p:cNvSpPr txBox="1"/>
          <p:nvPr/>
        </p:nvSpPr>
        <p:spPr>
          <a:xfrm>
            <a:off x="8674216" y="4756975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w1 = 3 + 0.01*(-10) = 2.9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7E50BF-69F0-3A21-737D-E9D7C3560BEB}"/>
              </a:ext>
            </a:extLst>
          </p:cNvPr>
          <p:cNvSpPr txBox="1"/>
          <p:nvPr/>
        </p:nvSpPr>
        <p:spPr>
          <a:xfrm>
            <a:off x="8674216" y="5187468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w2 = 4 + 0.01*5 = 4.1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7285B8F-1264-B207-2EDD-6F51A1E97C71}"/>
              </a:ext>
            </a:extLst>
          </p:cNvPr>
          <p:cNvSpPr txBox="1"/>
          <p:nvPr/>
        </p:nvSpPr>
        <p:spPr>
          <a:xfrm>
            <a:off x="8674216" y="5592760"/>
            <a:ext cx="35820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w3 = 5 + 0.01*(-2) = 4.9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71DF2F1-38B6-B09C-E6FC-4CBEFAB61994}"/>
              </a:ext>
            </a:extLst>
          </p:cNvPr>
          <p:cNvSpPr txBox="1"/>
          <p:nvPr/>
        </p:nvSpPr>
        <p:spPr>
          <a:xfrm>
            <a:off x="9196434" y="1384423"/>
            <a:ext cx="16526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w1 = 3</a:t>
            </a:r>
            <a:b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pl-PL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w2 = 4</a:t>
            </a: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w3 = 5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CA0888F-291F-5833-D9B4-2E66A0EE0855}"/>
              </a:ext>
            </a:extLst>
          </p:cNvPr>
          <p:cNvSpPr/>
          <p:nvPr/>
        </p:nvSpPr>
        <p:spPr>
          <a:xfrm>
            <a:off x="4798506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D3AC21F-7F37-14D9-B249-5D64505D13CE}"/>
              </a:ext>
            </a:extLst>
          </p:cNvPr>
          <p:cNvSpPr/>
          <p:nvPr/>
        </p:nvSpPr>
        <p:spPr>
          <a:xfrm>
            <a:off x="6167310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y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7E7792FE-C792-636B-55CA-972B05146BE3}"/>
              </a:ext>
            </a:extLst>
          </p:cNvPr>
          <p:cNvSpPr/>
          <p:nvPr/>
        </p:nvSpPr>
        <p:spPr>
          <a:xfrm>
            <a:off x="7536114" y="472014"/>
            <a:ext cx="780176" cy="59981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z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9C0BAA4-F85C-3E3F-3F90-6278A3D432B1}"/>
              </a:ext>
            </a:extLst>
          </p:cNvPr>
          <p:cNvCxnSpPr>
            <a:cxnSpLocks/>
            <a:stCxn id="39" idx="6"/>
            <a:endCxn id="40" idx="2"/>
          </p:cNvCxnSpPr>
          <p:nvPr/>
        </p:nvCxnSpPr>
        <p:spPr>
          <a:xfrm>
            <a:off x="5578682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34A8900D-5523-598B-B466-D7A5E5CBC3E8}"/>
              </a:ext>
            </a:extLst>
          </p:cNvPr>
          <p:cNvCxnSpPr>
            <a:cxnSpLocks/>
            <a:stCxn id="40" idx="6"/>
            <a:endCxn id="41" idx="2"/>
          </p:cNvCxnSpPr>
          <p:nvPr/>
        </p:nvCxnSpPr>
        <p:spPr>
          <a:xfrm>
            <a:off x="6947486" y="771921"/>
            <a:ext cx="5886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8282B79F-B8B4-CA03-CDC3-F4525F7791AB}"/>
              </a:ext>
            </a:extLst>
          </p:cNvPr>
          <p:cNvSpPr txBox="1"/>
          <p:nvPr/>
        </p:nvSpPr>
        <p:spPr>
          <a:xfrm>
            <a:off x="9196434" y="647913"/>
            <a:ext cx="27082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5">
                    <a:lumMod val="75000"/>
                  </a:schemeClr>
                </a:solidFill>
              </a:rPr>
              <a:t>Target = 10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7283E96-28E3-ECF0-03BA-5FFFF0256D25}"/>
              </a:ext>
            </a:extLst>
          </p:cNvPr>
          <p:cNvSpPr txBox="1"/>
          <p:nvPr/>
        </p:nvSpPr>
        <p:spPr>
          <a:xfrm>
            <a:off x="9188747" y="1016168"/>
            <a:ext cx="26123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92D050"/>
                </a:solidFill>
              </a:rPr>
              <a:t>Predicted = -8.33</a:t>
            </a:r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12F65846-F1FE-B2B9-C1DA-AB82D886AA0A}"/>
              </a:ext>
            </a:extLst>
          </p:cNvPr>
          <p:cNvSpPr/>
          <p:nvPr/>
        </p:nvSpPr>
        <p:spPr>
          <a:xfrm>
            <a:off x="4420998" y="4178196"/>
            <a:ext cx="268448" cy="190047"/>
          </a:xfrm>
          <a:prstGeom prst="curvedDown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50391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A107D-95A4-C6FC-7077-9F7ACF643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2421" y="2422489"/>
            <a:ext cx="10058400" cy="1609344"/>
          </a:xfrm>
        </p:spPr>
        <p:txBody>
          <a:bodyPr/>
          <a:lstStyle/>
          <a:p>
            <a:r>
              <a:rPr lang="en-US" dirty="0"/>
              <a:t>NEXT…</a:t>
            </a:r>
            <a:r>
              <a:rPr lang="en-US" b="1" cap="none" dirty="0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Neural Networks…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A0CD84-68C5-677C-0491-322E9B4B6B92}"/>
              </a:ext>
            </a:extLst>
          </p:cNvPr>
          <p:cNvSpPr txBox="1"/>
          <p:nvPr/>
        </p:nvSpPr>
        <p:spPr>
          <a:xfrm>
            <a:off x="5897459" y="3920320"/>
            <a:ext cx="30284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😈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A94CC-6895-B234-0729-4FD1F7ACF4B4}"/>
              </a:ext>
            </a:extLst>
          </p:cNvPr>
          <p:cNvSpPr txBox="1"/>
          <p:nvPr/>
        </p:nvSpPr>
        <p:spPr>
          <a:xfrm>
            <a:off x="3481431" y="4412762"/>
            <a:ext cx="36156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Practically</a:t>
            </a:r>
          </a:p>
        </p:txBody>
      </p:sp>
    </p:spTree>
    <p:extLst>
      <p:ext uri="{BB962C8B-B14F-4D97-AF65-F5344CB8AC3E}">
        <p14:creationId xmlns:p14="http://schemas.microsoft.com/office/powerpoint/2010/main" val="15932355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2201</TotalTime>
  <Words>896</Words>
  <Application>Microsoft Office PowerPoint</Application>
  <PresentationFormat>Widescreen</PresentationFormat>
  <Paragraphs>190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Rockwell</vt:lpstr>
      <vt:lpstr>Rockwell Condensed</vt:lpstr>
      <vt:lpstr>Wingdings</vt:lpstr>
      <vt:lpstr>Wood Type</vt:lpstr>
      <vt:lpstr>Gradient descent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NEXT…Neural Networks…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Youssef Magdy</dc:creator>
  <cp:lastModifiedBy>Youssef Magdy</cp:lastModifiedBy>
  <cp:revision>8</cp:revision>
  <dcterms:created xsi:type="dcterms:W3CDTF">2026-02-23T23:11:21Z</dcterms:created>
  <dcterms:modified xsi:type="dcterms:W3CDTF">2026-02-25T11:52:28Z</dcterms:modified>
</cp:coreProperties>
</file>